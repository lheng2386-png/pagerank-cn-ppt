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a32f12f7af48a3" /><Relationship Type="http://schemas.openxmlformats.org/officeDocument/2006/relationships/extended-properties" Target="/docProps/app.xml" Id="Rc25f40083ca94f91" /><Relationship Type="http://schemas.openxmlformats.org/officeDocument/2006/relationships/officeDocument" Target="/ppt/presentation.xml" Id="R68d83d23ac2642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a044bae03e45d6"/>
  </p:sldMasterIdLst>
  <p:notesMasterIdLst>
    <p:notesMasterId xmlns:r="http://schemas.openxmlformats.org/officeDocument/2006/relationships" r:id="Rd956814bf46941e3"/>
  </p:notesMasterIdLst>
  <p:sldIdLst>
    <p:sldId xmlns:r="http://schemas.openxmlformats.org/officeDocument/2006/relationships" id="256" r:id="R5ecaf3f0d8284d9c"/>
    <p:sldId xmlns:r="http://schemas.openxmlformats.org/officeDocument/2006/relationships" id="257" r:id="R9769ab44f9fe41b5"/>
    <p:sldId xmlns:r="http://schemas.openxmlformats.org/officeDocument/2006/relationships" id="258" r:id="R417a7a15826d4588"/>
    <p:sldId xmlns:r="http://schemas.openxmlformats.org/officeDocument/2006/relationships" id="259" r:id="R211dfe5d7f3f4c9d"/>
    <p:sldId xmlns:r="http://schemas.openxmlformats.org/officeDocument/2006/relationships" id="260" r:id="R288b8f81bae24509"/>
    <p:sldId xmlns:r="http://schemas.openxmlformats.org/officeDocument/2006/relationships" id="261" r:id="Rbd1bf2e96fef44e4"/>
    <p:sldId xmlns:r="http://schemas.openxmlformats.org/officeDocument/2006/relationships" id="262" r:id="Re6cf990950ee4666"/>
    <p:sldId xmlns:r="http://schemas.openxmlformats.org/officeDocument/2006/relationships" id="263" r:id="R9d8cabf1dc4a4271"/>
    <p:sldId xmlns:r="http://schemas.openxmlformats.org/officeDocument/2006/relationships" id="264" r:id="R122da9c8c9ef496e"/>
    <p:sldId xmlns:r="http://schemas.openxmlformats.org/officeDocument/2006/relationships" id="265" r:id="R73b22730d6e243cf"/>
    <p:sldId xmlns:r="http://schemas.openxmlformats.org/officeDocument/2006/relationships" id="266" r:id="Rdd926ae0542a4e53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a044bae03e45d6" /><Relationship Type="http://schemas.openxmlformats.org/officeDocument/2006/relationships/theme" Target="/ppt/theme/theme1.xml" Id="Rd786957b03dc4b01" /><Relationship Type="http://schemas.openxmlformats.org/officeDocument/2006/relationships/notesMaster" Target="/ppt/notesMasters/notesMaster1.xml" Id="Rd956814bf46941e3" /><Relationship Type="http://schemas.openxmlformats.org/officeDocument/2006/relationships/presProps" Target="/ppt/presProps.xml" Id="R92225dbb7b334d7f" /><Relationship Type="http://schemas.openxmlformats.org/officeDocument/2006/relationships/viewProps" Target="/ppt/viewProps.xml" Id="R8cf3a76e26ad41cf" /><Relationship Type="http://schemas.openxmlformats.org/officeDocument/2006/relationships/tableStyles" Target="/ppt/tableStyles.xml" Id="R7f5f09deba7a49e7" /><Relationship Type="http://schemas.openxmlformats.org/officeDocument/2006/relationships/slide" Target="/ppt/slides/slide1.xml" Id="R5ecaf3f0d8284d9c" /><Relationship Type="http://schemas.openxmlformats.org/officeDocument/2006/relationships/slide" Target="/ppt/slides/slide2.xml" Id="R9769ab44f9fe41b5" /><Relationship Type="http://schemas.openxmlformats.org/officeDocument/2006/relationships/slide" Target="/ppt/slides/slide3.xml" Id="R417a7a15826d4588" /><Relationship Type="http://schemas.openxmlformats.org/officeDocument/2006/relationships/slide" Target="/ppt/slides/slide4.xml" Id="R211dfe5d7f3f4c9d" /><Relationship Type="http://schemas.openxmlformats.org/officeDocument/2006/relationships/slide" Target="/ppt/slides/slide5.xml" Id="R288b8f81bae24509" /><Relationship Type="http://schemas.openxmlformats.org/officeDocument/2006/relationships/slide" Target="/ppt/slides/slide6.xml" Id="Rbd1bf2e96fef44e4" /><Relationship Type="http://schemas.openxmlformats.org/officeDocument/2006/relationships/slide" Target="/ppt/slides/slide7.xml" Id="Re6cf990950ee4666" /><Relationship Type="http://schemas.openxmlformats.org/officeDocument/2006/relationships/slide" Target="/ppt/slides/slide8.xml" Id="R9d8cabf1dc4a4271" /><Relationship Type="http://schemas.openxmlformats.org/officeDocument/2006/relationships/slide" Target="/ppt/slides/slide9.xml" Id="R122da9c8c9ef496e" /><Relationship Type="http://schemas.openxmlformats.org/officeDocument/2006/relationships/slide" Target="/ppt/slides/slide10.xml" Id="R73b22730d6e243cf" /><Relationship Type="http://schemas.openxmlformats.org/officeDocument/2006/relationships/slide" Target="/ppt/slides/slide11.xml" Id="Rdd926ae0542a4e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83a07406ebc49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b95b41636243a0" /><Relationship Type="http://schemas.openxmlformats.org/officeDocument/2006/relationships/notesMaster" Target="/ppt/notesMasters/notesMaster1.xml" Id="R6d6b5f01a8a54e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f5e7fafdb64639" /><Relationship Type="http://schemas.openxmlformats.org/officeDocument/2006/relationships/notesMaster" Target="/ppt/notesMasters/notesMaster1.xml" Id="R9f20b2711d3043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2385cb1c12405b" /><Relationship Type="http://schemas.openxmlformats.org/officeDocument/2006/relationships/notesMaster" Target="/ppt/notesMasters/notesMaster1.xml" Id="R4967cc50dfc54f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1c30e2029a47e3" /><Relationship Type="http://schemas.openxmlformats.org/officeDocument/2006/relationships/notesMaster" Target="/ppt/notesMasters/notesMaster1.xml" Id="R921198d18ea144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b52ec5a7704beb" /><Relationship Type="http://schemas.openxmlformats.org/officeDocument/2006/relationships/notesMaster" Target="/ppt/notesMasters/notesMaster1.xml" Id="R10275976b22d4d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75e0cd4a064f91" /><Relationship Type="http://schemas.openxmlformats.org/officeDocument/2006/relationships/notesMaster" Target="/ppt/notesMasters/notesMaster1.xml" Id="Re35f6ca9e9ef4d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ae5fbc0d484501" /><Relationship Type="http://schemas.openxmlformats.org/officeDocument/2006/relationships/notesMaster" Target="/ppt/notesMasters/notesMaster1.xml" Id="Red90507eff2e4d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efe8434e154fc4" /><Relationship Type="http://schemas.openxmlformats.org/officeDocument/2006/relationships/notesMaster" Target="/ppt/notesMasters/notesMaster1.xml" Id="R6439145a78ad4e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e6837617c043d2" /><Relationship Type="http://schemas.openxmlformats.org/officeDocument/2006/relationships/notesMaster" Target="/ppt/notesMasters/notesMaster1.xml" Id="R13afd2e37b664a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e94251b3814ce1" /><Relationship Type="http://schemas.openxmlformats.org/officeDocument/2006/relationships/notesMaster" Target="/ppt/notesMasters/notesMaster1.xml" Id="Rc09661677ea049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58c741fa494ff8" /><Relationship Type="http://schemas.openxmlformats.org/officeDocument/2006/relationships/notesMaster" Target="/ppt/notesMasters/notesMaster1.xml" Id="Ree3d17203b6648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69ddfe562845f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55a67926e4249bc" /><Relationship Type="http://schemas.openxmlformats.org/officeDocument/2006/relationships/slideLayout" Target="/ppt/slideLayouts/slideLayout2.xml" Id="R2c5a4e5d56c240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5a4e5d56c240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6699bcddc74f98" /><Relationship Type="http://schemas.openxmlformats.org/officeDocument/2006/relationships/notesSlide" Target="/ppt/notesSlides/notesSlide1.xml" Id="Ra688567c971541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c4ecb9ab344b79" /><Relationship Type="http://schemas.openxmlformats.org/officeDocument/2006/relationships/notesSlide" Target="/ppt/notesSlides/notesSlide2.xml" Id="Rc35b64967b1b48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8e0a394735416e" /><Relationship Type="http://schemas.openxmlformats.org/officeDocument/2006/relationships/notesSlide" Target="/ppt/notesSlides/notesSlide3.xml" Id="R573ce634109a47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ff4786f5904611" /><Relationship Type="http://schemas.openxmlformats.org/officeDocument/2006/relationships/notesSlide" Target="/ppt/notesSlides/notesSlide4.xml" Id="R87d5c0fd4a8c45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b075c9b1ff47ff" /><Relationship Type="http://schemas.openxmlformats.org/officeDocument/2006/relationships/notesSlide" Target="/ppt/notesSlides/notesSlide5.xml" Id="Rfcdf58f764474a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32b82ca7094b84" /><Relationship Type="http://schemas.openxmlformats.org/officeDocument/2006/relationships/notesSlide" Target="/ppt/notesSlides/notesSlide6.xml" Id="Rc57d7b20e79745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05efd90ed84f46" /><Relationship Type="http://schemas.openxmlformats.org/officeDocument/2006/relationships/notesSlide" Target="/ppt/notesSlides/notesSlide7.xml" Id="R9ce8dde31b2049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db33a91bd44827" /><Relationship Type="http://schemas.openxmlformats.org/officeDocument/2006/relationships/notesSlide" Target="/ppt/notesSlides/notesSlide8.xml" Id="Re964d6874a9547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78e50a0ec6411a" /><Relationship Type="http://schemas.openxmlformats.org/officeDocument/2006/relationships/notesSlide" Target="/ppt/notesSlides/notesSlide9.xml" Id="R1ac85720542549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7541151e604574" /><Relationship Type="http://schemas.openxmlformats.org/officeDocument/2006/relationships/notesSlide" Target="/ppt/notesSlides/notesSlide10.xml" Id="Rac3b1ef7878e4b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406e4dac584747" /><Relationship Type="http://schemas.openxmlformats.org/officeDocument/2006/relationships/notesSlide" Target="/ppt/notesSlides/notesSlide11.xml" Id="Re2058b68882e4a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FAD445-3A9E-4CCD-9980-934F8F42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57250"/>
            <a:ext cx="4895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1" i="0">
                <a:solidFill>
                  <a:srgbClr val="166B6B"/>
                </a:solidFill>
              </a:defRPr>
            </a:pPr>
            <a:r>
              <a:rPr sz="1650" b="1" i="0">
                <a:solidFill>
                  <a:srgbClr val="166B6B"/>
                </a:solidFill>
              </a:rPr>
              <a:t>第五组 · 理解图在社会科学与自然科学中的作用（3）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A8814-2400-4659-BBB6-EB11DEC1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5350" y="742950"/>
            <a:ext cx="1238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75" b="1" i="0">
                <a:solidFill>
                  <a:srgbClr val="52636B"/>
                </a:solidFill>
              </a:defRPr>
            </a:pPr>
            <a:r>
              <a:rPr sz="1575" b="1" i="0">
                <a:solidFill>
                  <a:srgbClr val="52636B"/>
                </a:solidFill>
              </a:rPr>
              <a:t>中文汇报 PPT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31CB0-F22C-4B5C-8126-3D432782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7334250" cy="1924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6150" b="1" i="0">
                <a:solidFill>
                  <a:srgbClr val="17242A"/>
                </a:solidFill>
              </a:defRPr>
            </a:pPr>
            <a:r>
              <a:rPr sz="6150" b="1" i="0">
                <a:solidFill>
                  <a:srgbClr val="17242A"/>
                </a:solidFill>
              </a:rPr>
              <a:t>PageRank：让链接投票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FF022-1BF6-4DBC-9356-B2B05A5C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51816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550" b="0" i="0">
                <a:solidFill>
                  <a:srgbClr val="52636B"/>
                </a:solidFill>
              </a:defRPr>
            </a:pPr>
            <a:r>
              <a:rPr sz="2550" b="0" i="0">
                <a:solidFill>
                  <a:srgbClr val="52636B"/>
                </a:solidFill>
              </a:rPr>
              <a:t>从网页排序到网络科学的中心性思想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90646-41F7-4495-87D1-73BCC156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16338"/>
            <a:ext cx="1066800" cy="4211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B6B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3B302-2973-43B2-AB9D-41DD3354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61035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论文阅读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35574-172B-4EFD-BB51-F2A513AC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516338"/>
            <a:ext cx="1066800" cy="4211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A001F-5680-4F6B-B5E6-51D4DCF1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61035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算法机制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4D4FF-5814-4E9B-ADBF-74CD1108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516338"/>
            <a:ext cx="1066800" cy="4211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E9E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4D0299-85C2-45C1-88D4-F4D02732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661035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五人分工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6E319-B1CC-4F8B-8F88-9DCCEF63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668" y="1295019"/>
            <a:ext cx="8599932" cy="7959852"/>
          </a:xfrm>
          <a:prstGeom xmlns:a="http://schemas.openxmlformats.org/drawingml/2006/main" prst="roundRect">
            <a:avLst>
              <a:gd name="adj" fmla="val 2872"/>
            </a:avLst>
          </a:prstGeom>
          <a:solidFill xmlns:a="http://schemas.openxmlformats.org/drawingml/2006/main">
            <a:srgbClr val="17242A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ECF07-1CF9-4E68-92BF-07F26768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3718" y="3771900"/>
            <a:ext cx="80010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AD812-1B14-48E4-AA03-B340C93E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62400"/>
            <a:ext cx="800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400" b="1" i="0">
                <a:solidFill>
                  <a:srgbClr val="FFFFFF"/>
                </a:solidFill>
              </a:defRPr>
            </a:pPr>
            <a:r>
              <a:rPr sz="24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499CFB-D193-4D47-BA79-F1976BA8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905250"/>
            <a:ext cx="400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150" b="0" i="0">
                <a:solidFill>
                  <a:srgbClr val="CFE5E0"/>
                </a:solidFill>
              </a:defRPr>
            </a:pPr>
            <a:r>
              <a:rPr sz="3150" b="0" i="0">
                <a:solidFill>
                  <a:srgbClr val="CFE5E0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78F9BA-3073-4DBC-81D4-B1C7F839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1068" y="3771900"/>
            <a:ext cx="80010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034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E95E95-5F32-426B-80F1-D7943E07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962400"/>
            <a:ext cx="800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400" b="1" i="0">
                <a:solidFill>
                  <a:srgbClr val="FFFFFF"/>
                </a:solidFill>
              </a:defRPr>
            </a:pPr>
            <a:r>
              <a:rPr sz="24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DD6B6C-CEB9-4720-A3CB-872A70D3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905250"/>
            <a:ext cx="400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150" b="0" i="0">
                <a:solidFill>
                  <a:srgbClr val="CFE5E0"/>
                </a:solidFill>
              </a:defRPr>
            </a:pPr>
            <a:r>
              <a:rPr sz="3150" b="0" i="0">
                <a:solidFill>
                  <a:srgbClr val="CFE5E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50BCB0-6FDA-4E6D-968F-82C7B7A6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8418" y="3771900"/>
            <a:ext cx="80010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8A7A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2AA1E0-B14C-4E37-B30E-373189BE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3962400"/>
            <a:ext cx="800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400" b="1" i="0">
                <a:solidFill>
                  <a:srgbClr val="FFFFFF"/>
                </a:solidFill>
              </a:defRPr>
            </a:pPr>
            <a:r>
              <a:rPr sz="24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65B2DC-89BA-4D24-A546-3C054899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6234" y="4819650"/>
            <a:ext cx="80010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E9E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98EFD7-1A50-483B-AC6C-CCEAFBEC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010150"/>
            <a:ext cx="800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400" b="1" i="0">
                <a:solidFill>
                  <a:srgbClr val="FFFFFF"/>
                </a:solidFill>
              </a:defRPr>
            </a:pPr>
            <a:r>
              <a:rPr sz="240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7DEB1C-A6F1-4D82-89A2-31C2AD7F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953000"/>
            <a:ext cx="400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150" b="0" i="0">
                <a:solidFill>
                  <a:srgbClr val="CFE5E0"/>
                </a:solidFill>
              </a:defRPr>
            </a:pPr>
            <a:r>
              <a:rPr sz="3150" b="0" i="0">
                <a:solidFill>
                  <a:srgbClr val="CFE5E0"/>
                </a:solidFill>
              </a:rPr>
              <a:t>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C4079A-CD3F-42F2-A452-26EF3F49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3584" y="4819650"/>
            <a:ext cx="80010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5A97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CE04D6-2B32-48CB-A8CB-8DC0D065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010150"/>
            <a:ext cx="800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400" b="1" i="0">
                <a:solidFill>
                  <a:srgbClr val="FFFFFF"/>
                </a:solidFill>
              </a:defRPr>
            </a:pPr>
            <a:r>
              <a:rPr sz="2400" b="1" i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97E46D-C34F-4FB7-8F72-E4335884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4953000"/>
            <a:ext cx="400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150" b="0" i="0">
                <a:solidFill>
                  <a:srgbClr val="CFE5E0"/>
                </a:solidFill>
              </a:defRPr>
            </a:pPr>
            <a:r>
              <a:rPr sz="3150" b="0" i="0">
                <a:solidFill>
                  <a:srgbClr val="CFE5E0"/>
                </a:solidFill>
              </a:rPr>
              <a:t>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511851-E90D-4563-8CFD-CE0F0F2A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0934" y="4819650"/>
            <a:ext cx="80010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1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E8A7F4-FBBF-45D5-AC09-6F70572E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5010150"/>
            <a:ext cx="800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400" b="1" i="0">
                <a:solidFill>
                  <a:srgbClr val="FFFFFF"/>
                </a:solidFill>
              </a:defRPr>
            </a:pPr>
            <a:r>
              <a:rPr sz="24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A7D6C7-97AB-47F4-B260-9824EBAE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867400"/>
            <a:ext cx="68008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一个网页的重要性，来自指向它的网页本身有多重要。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2FFB5C-76E1-4EA0-BBB8-A0368EFA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58300"/>
            <a:ext cx="16459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0" i="0">
                <a:solidFill>
                  <a:srgbClr val="52636B"/>
                </a:solidFill>
              </a:defRPr>
            </a:pPr>
            <a:r>
              <a:rPr sz="1650" b="0" i="0">
                <a:solidFill>
                  <a:srgbClr val="52636B"/>
                </a:solidFill>
              </a:rPr>
              <a:t>汇报目标：说明 PageRank 的实现机制，并连接社会科学与自然科学中的图思想。</a:t>
            </a:r>
          </a:p>
        </p:txBody>
      </p:sp>
    </p:spTree>
    <p:extLst>
      <p:ext uri="{BB962C8B-B14F-4D97-AF65-F5344CB8AC3E}">
        <p14:creationId xmlns:p14="http://schemas.microsoft.com/office/powerpoint/2010/main" val="497067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FA7E4D-E416-4961-864A-1B52B2C6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924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1" i="0">
                <a:solidFill>
                  <a:srgbClr val="166B6B"/>
                </a:solidFill>
              </a:defRPr>
            </a:pPr>
            <a:r>
              <a:rPr sz="1650" b="1" i="0">
                <a:solidFill>
                  <a:srgbClr val="166B6B"/>
                </a:solidFill>
              </a:rPr>
              <a:t>PageRank 算法机制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D82E03-8086-40CD-84AC-2B87C248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85850"/>
            <a:ext cx="7677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4050" b="1" i="0">
                <a:solidFill>
                  <a:srgbClr val="17242A"/>
                </a:solidFill>
              </a:defRPr>
            </a:pPr>
            <a:r>
              <a:rPr sz="4050" b="1" i="0">
                <a:solidFill>
                  <a:srgbClr val="17242A"/>
                </a:solidFill>
              </a:rPr>
              <a:t>为什么搜索引擎需要“图”的思想？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E8EEA69-C207-4926-BED3-4E708010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0" i="0">
                <a:solidFill>
                  <a:srgbClr val="52636B"/>
                </a:solidFill>
              </a:defRPr>
            </a:pPr>
            <a:r>
              <a:rPr sz="1875" b="0" i="0">
                <a:solidFill>
                  <a:srgbClr val="52636B"/>
                </a:solidFill>
              </a:rPr>
              <a:t>互联网不是孤立网页的列表，而是由超链接组成的巨大有向图。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EADD0-BD56-477B-9BAC-5EB14DD5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5027"/>
            <a:ext cx="5359400" cy="5965088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9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F0D09-3422-4BBE-AF1D-8142294C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00350"/>
            <a:ext cx="485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 b="1" i="0">
                <a:solidFill>
                  <a:srgbClr val="E86F51"/>
                </a:solidFill>
              </a:defRPr>
            </a:pPr>
            <a:r>
              <a:rPr sz="1725" b="1" i="0">
                <a:solidFill>
                  <a:srgbClr val="E86F51"/>
                </a:solidFill>
              </a:rPr>
              <a:t>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A6E1F-588E-47EA-9C62-A3E691B6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4857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725" b="0" i="0">
                <a:solidFill>
                  <a:srgbClr val="17242A"/>
                </a:solidFill>
              </a:defRPr>
            </a:pPr>
            <a:r>
              <a:rPr sz="1725" b="0" i="0">
                <a:solidFill>
                  <a:srgbClr val="17242A"/>
                </a:solidFill>
              </a:rPr>
              <a:t>关键词匹配只能知道“相关”，很难判断哪个网页更值得排在前面。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0CBFC-E259-4DC9-95E5-18E2A40A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2575027"/>
            <a:ext cx="5359400" cy="5965088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9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F24EC-DCA7-4507-80A1-A92882CB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0350"/>
            <a:ext cx="485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 b="1" i="0">
                <a:solidFill>
                  <a:srgbClr val="166B6B"/>
                </a:solidFill>
              </a:defRPr>
            </a:pPr>
            <a:r>
              <a:rPr sz="1725" b="1" i="0">
                <a:solidFill>
                  <a:srgbClr val="166B6B"/>
                </a:solidFill>
              </a:rPr>
              <a:t>图视角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8F5BA-2A2C-4650-8C16-6401AA1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38500"/>
            <a:ext cx="4857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725" b="0" i="0">
                <a:solidFill>
                  <a:srgbClr val="17242A"/>
                </a:solidFill>
              </a:defRPr>
            </a:pPr>
            <a:r>
              <a:rPr sz="1725" b="0" i="0">
                <a:solidFill>
                  <a:srgbClr val="17242A"/>
                </a:solidFill>
              </a:rPr>
              <a:t>网页是节点，链接是边；一个链接可以看作一次“推荐”或“投票”。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B8A1B-0FFC-469A-BB7F-A07E2706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2575027"/>
            <a:ext cx="5359400" cy="5965088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9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039A4-9DDF-43AA-95D6-DF3A03B7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800350"/>
            <a:ext cx="485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 b="1" i="0">
                <a:solidFill>
                  <a:srgbClr val="2F6E9E"/>
                </a:solidFill>
              </a:defRPr>
            </a:pPr>
            <a:r>
              <a:rPr sz="1725" b="1" i="0">
                <a:solidFill>
                  <a:srgbClr val="2F6E9E"/>
                </a:solidFill>
              </a:rPr>
              <a:t>核心判断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44F4B8-73B0-4A53-83AE-8F3665EE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238500"/>
            <a:ext cx="4857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725" b="0" i="0">
                <a:solidFill>
                  <a:srgbClr val="17242A"/>
                </a:solidFill>
              </a:defRPr>
            </a:pPr>
            <a:r>
              <a:rPr sz="1725" b="0" i="0">
                <a:solidFill>
                  <a:srgbClr val="17242A"/>
                </a:solidFill>
              </a:rPr>
              <a:t>被许多高质量网页指向的网页，应当获得更高排名。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8920C5-2666-4CCB-9E83-1641DE38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844915"/>
            <a:ext cx="16611600" cy="813435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EDF3F1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D1DEB-6209-469E-9F15-85988586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048750"/>
            <a:ext cx="16040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250" b="1" i="0">
                <a:solidFill>
                  <a:srgbClr val="166B6B"/>
                </a:solidFill>
              </a:defRPr>
            </a:pPr>
            <a:r>
              <a:rPr sz="2250" b="1" i="0">
                <a:solidFill>
                  <a:srgbClr val="166B6B"/>
                </a:solidFill>
              </a:rPr>
              <a:t>PageRank 的贡献：把“谁指向谁”转化为可迭代计算的排名分数。</a:t>
            </a:r>
          </a:p>
        </p:txBody>
      </p:sp>
    </p:spTree>
    <p:extLst>
      <p:ext uri="{BB962C8B-B14F-4D97-AF65-F5344CB8AC3E}">
        <p14:creationId xmlns:p14="http://schemas.microsoft.com/office/powerpoint/2010/main" val="20364020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86B9E5-69D9-4473-AA85-7C5ADE14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924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1" i="0">
                <a:solidFill>
                  <a:srgbClr val="2F6E9E"/>
                </a:solidFill>
              </a:defRPr>
            </a:pPr>
            <a:r>
              <a:rPr sz="1650" b="1" i="0">
                <a:solidFill>
                  <a:srgbClr val="2F6E9E"/>
                </a:solidFill>
              </a:rPr>
              <a:t>PageRank 算法机制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65F4E9-D055-4BF5-952E-758A3E9E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85850"/>
            <a:ext cx="8020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4050" b="1" i="0">
                <a:solidFill>
                  <a:srgbClr val="17242A"/>
                </a:solidFill>
              </a:defRPr>
            </a:pPr>
            <a:r>
              <a:rPr sz="4050" b="1" i="0">
                <a:solidFill>
                  <a:srgbClr val="17242A"/>
                </a:solidFill>
              </a:rPr>
              <a:t>论文背景：从 BackRub 到 Google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4B4C0CB-38DC-4486-BDBB-CEEE8DBC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73723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0" i="0">
                <a:solidFill>
                  <a:srgbClr val="52636B"/>
                </a:solidFill>
              </a:defRPr>
            </a:pPr>
            <a:r>
              <a:rPr sz="1875" b="0" i="0">
                <a:solidFill>
                  <a:srgbClr val="52636B"/>
                </a:solidFill>
              </a:rPr>
              <a:t>Brin 与 Page 在早期论文中把网页链接结构作为搜索质量的关键证据。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A5FC6-532B-4BBA-A5FC-58B2A7EA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68770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625" b="1" i="0">
                <a:solidFill>
                  <a:srgbClr val="17242A"/>
                </a:solidFill>
              </a:defRPr>
            </a:pPr>
            <a:r>
              <a:rPr sz="2625" b="1" i="0">
                <a:solidFill>
                  <a:srgbClr val="17242A"/>
                </a:solidFill>
              </a:rPr>
              <a:t>The Anatomy of a Large-Scale Hypertextual Web Search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48E70E-7B51-46FE-AF59-9B059114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9E"/>
          </a:solidFill>
          <a:ln xmlns:a="http://schemas.openxmlformats.org/drawingml/2006/main" w="0">
            <a:solidFill>
              <a:srgbClr val="2F6E9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2861B-4F86-4CF9-A1DB-FF2D9D6C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687705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2025" b="0" i="0">
                <a:solidFill>
                  <a:srgbClr val="52636B"/>
                </a:solidFill>
              </a:defRPr>
            </a:pPr>
            <a:r>
              <a:rPr sz="2025" b="0" i="0">
                <a:solidFill>
                  <a:srgbClr val="52636B"/>
                </a:solidFill>
              </a:rPr>
              <a:t>两位作者将网页集合建模为链接图，并提出用链接结构衡量网页重要性。PageRank 不是只数入链数量，而是让高排名网页的链接拥有更大权重。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C8881-7899-4DCE-B6F4-4B4C4936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9113" y="29908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03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EA891-A96D-4E18-AD0B-5F06430D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24200"/>
            <a:ext cx="571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3ECDF-9D66-4809-82F0-73C972C8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14650"/>
            <a:ext cx="857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 i="0">
                <a:solidFill>
                  <a:srgbClr val="17242A"/>
                </a:solidFill>
              </a:defRPr>
            </a:pPr>
            <a:r>
              <a:rPr sz="2100" b="1" i="0">
                <a:solidFill>
                  <a:srgbClr val="17242A"/>
                </a:solidFill>
              </a:rPr>
              <a:t>抓取网页与链接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0F61F-4542-4A73-AB0D-A5F63006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33750"/>
            <a:ext cx="857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0" i="0">
                <a:solidFill>
                  <a:srgbClr val="52636B"/>
                </a:solidFill>
              </a:defRPr>
            </a:pPr>
            <a:r>
              <a:rPr sz="1650" b="0" i="0">
                <a:solidFill>
                  <a:srgbClr val="52636B"/>
                </a:solidFill>
              </a:rPr>
              <a:t>形成大规模有向图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74FCDF-5612-4127-8DEA-646F5FFE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9113" y="39243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034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5FA07-D77A-4047-9049-4EC448BD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57650"/>
            <a:ext cx="571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F842B-FA71-4F0B-B5B0-345C8675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29050"/>
            <a:ext cx="857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 i="0">
                <a:solidFill>
                  <a:srgbClr val="17242A"/>
                </a:solidFill>
              </a:defRPr>
            </a:pPr>
            <a:r>
              <a:rPr sz="2100" b="1" i="0">
                <a:solidFill>
                  <a:srgbClr val="17242A"/>
                </a:solidFill>
              </a:rPr>
              <a:t>计算网页重要性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594EA-5D50-48B2-A71A-3554C727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48150"/>
            <a:ext cx="857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0" i="0">
                <a:solidFill>
                  <a:srgbClr val="52636B"/>
                </a:solidFill>
              </a:defRPr>
            </a:pPr>
            <a:r>
              <a:rPr sz="1650" b="0" i="0">
                <a:solidFill>
                  <a:srgbClr val="52636B"/>
                </a:solidFill>
              </a:rPr>
              <a:t>用 PageRank 迭代分数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54817B-8FED-4CC4-9967-E37F0A71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9113" y="48387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034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4F7A2-13BC-48CD-9532-0AD62883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72050"/>
            <a:ext cx="571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E6F515-18A6-4E6A-B038-6034C331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62500"/>
            <a:ext cx="857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 i="0">
                <a:solidFill>
                  <a:srgbClr val="17242A"/>
                </a:solidFill>
              </a:defRPr>
            </a:pPr>
            <a:r>
              <a:rPr sz="2100" b="1" i="0">
                <a:solidFill>
                  <a:srgbClr val="17242A"/>
                </a:solidFill>
              </a:rPr>
              <a:t>结合文本匹配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6F8B84-01B1-4B36-A180-AA334DED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181600"/>
            <a:ext cx="857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0" i="0">
                <a:solidFill>
                  <a:srgbClr val="52636B"/>
                </a:solidFill>
              </a:defRPr>
            </a:pPr>
            <a:r>
              <a:rPr sz="1650" b="0" i="0">
                <a:solidFill>
                  <a:srgbClr val="52636B"/>
                </a:solidFill>
              </a:rPr>
              <a:t>把相关性与权威性一起用于排序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721B71-C662-41E8-82CD-31C4D4F0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661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 b="0" i="0">
                <a:solidFill>
                  <a:srgbClr val="52636B"/>
                </a:solidFill>
              </a:defRPr>
            </a:pPr>
            <a:r>
              <a:rPr sz="1200" b="0" i="0">
                <a:solidFill>
                  <a:srgbClr val="52636B"/>
                </a:solidFill>
              </a:rPr>
              <a:t>参考：Brin &amp; Page 原论文；Ian Rogers 的 PageRank 讲义。</a:t>
            </a:r>
          </a:p>
        </p:txBody>
      </p:sp>
    </p:spTree>
    <p:extLst>
      <p:ext uri="{BB962C8B-B14F-4D97-AF65-F5344CB8AC3E}">
        <p14:creationId xmlns:p14="http://schemas.microsoft.com/office/powerpoint/2010/main" val="11523362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D63D23-EC30-4668-8482-C40B6CA3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924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1" i="0">
                <a:solidFill>
                  <a:srgbClr val="E86F51"/>
                </a:solidFill>
              </a:defRPr>
            </a:pPr>
            <a:r>
              <a:rPr sz="1650" b="1" i="0">
                <a:solidFill>
                  <a:srgbClr val="E86F51"/>
                </a:solidFill>
              </a:rPr>
              <a:t>PageRank 算法机制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4D55DB-7516-4604-8A53-72B297F8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85850"/>
            <a:ext cx="97345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4050" b="1" i="0">
                <a:solidFill>
                  <a:srgbClr val="17242A"/>
                </a:solidFill>
              </a:defRPr>
            </a:pPr>
            <a:r>
              <a:rPr sz="4050" b="1" i="0">
                <a:solidFill>
                  <a:srgbClr val="17242A"/>
                </a:solidFill>
              </a:rPr>
              <a:t>直觉：链接不是一人一票，而是“带权投票”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DC463BA-4580-47F8-AD95-9A1E0755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52006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0" i="0">
                <a:solidFill>
                  <a:srgbClr val="52636B"/>
                </a:solidFill>
              </a:defRPr>
            </a:pPr>
            <a:r>
              <a:rPr sz="1875" b="0" i="0">
                <a:solidFill>
                  <a:srgbClr val="52636B"/>
                </a:solidFill>
              </a:rPr>
              <a:t>PageRank 把网页之间的引用关系变成声誉流动。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3397E-2FC2-4A9C-AD93-3CEB8B0E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7927"/>
            <a:ext cx="8521065" cy="6740423"/>
          </a:xfrm>
          <a:prstGeom xmlns:a="http://schemas.openxmlformats.org/drawingml/2006/main" prst="roundRect">
            <a:avLst>
              <a:gd name="adj" fmla="val 2826"/>
            </a:avLst>
          </a:prstGeom>
          <a:solidFill xmlns:a="http://schemas.openxmlformats.org/drawingml/2006/main">
            <a:srgbClr val="17242A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A89CC-A643-495D-8569-9E142C63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633" y="464820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3369A-38D7-4CA2-A9DE-813C9911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19650"/>
            <a:ext cx="723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471F2-3F95-4961-9E96-9B7EDA37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62500"/>
            <a:ext cx="381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850" b="0" i="0">
                <a:solidFill>
                  <a:srgbClr val="FFFFFF"/>
                </a:solidFill>
              </a:defRPr>
            </a:pPr>
            <a:r>
              <a:rPr sz="285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5FEFE-6156-4FF7-8199-3E65BD3C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533" y="455295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8A7A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A45FCB-5313-47B5-8237-CCD05D7A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81550"/>
            <a:ext cx="914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21A32-8ACD-4FC0-BB5E-C34C418D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762500"/>
            <a:ext cx="381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850" b="0" i="0">
                <a:solidFill>
                  <a:srgbClr val="FFFFFF"/>
                </a:solidFill>
              </a:defRPr>
            </a:pPr>
            <a:r>
              <a:rPr sz="2850" b="0" i="0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0D814B-5562-42AC-8164-A750725E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933" y="464820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034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108BBF-3C15-4101-8C5F-EE70F276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19650"/>
            <a:ext cx="723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37BEB-AB5A-4EEC-B51F-FEBC3077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633" y="582930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E9E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F90AE-80F6-476E-8761-D85B981B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000750"/>
            <a:ext cx="723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DF4AA6-ED36-4EEE-AA16-3B8F9C5E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943600"/>
            <a:ext cx="381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850" b="0" i="0">
                <a:solidFill>
                  <a:srgbClr val="FFFFFF"/>
                </a:solidFill>
              </a:defRPr>
            </a:pPr>
            <a:r>
              <a:rPr sz="285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46116F-6AA7-4564-9B1F-32A566F0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533" y="573405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8A7A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2D7FEE-9725-477F-8431-83258A77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962650"/>
            <a:ext cx="914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B5C8A-DDFB-4CE1-AC76-0E43414D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943600"/>
            <a:ext cx="381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850" b="0" i="0">
                <a:solidFill>
                  <a:srgbClr val="FFFFFF"/>
                </a:solidFill>
              </a:defRPr>
            </a:pPr>
            <a:r>
              <a:rPr sz="2850" b="0" i="0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6033AC-EECA-4B96-9AC6-9D287BAA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933" y="582930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5A97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BE371B-F557-4B27-8FB3-0C536501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000750"/>
            <a:ext cx="723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430CAE-4729-4B5B-A7DB-65FAD222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915150"/>
            <a:ext cx="66675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C 的高分来自多个节点的推荐，尤其来自本身也重要的节点。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E5B8E3-66E7-4696-818E-62ECF027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1244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1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913263-806A-4206-A6B6-768D5D9C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124450"/>
            <a:ext cx="742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2175" b="0" i="0">
                <a:solidFill>
                  <a:srgbClr val="17242A"/>
                </a:solidFill>
              </a:defRPr>
            </a:pPr>
            <a:r>
              <a:rPr sz="2175" b="0" i="0">
                <a:solidFill>
                  <a:srgbClr val="17242A"/>
                </a:solidFill>
              </a:rPr>
              <a:t>入链越多，通常越可能重要。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299676-CF60-4CB3-9322-EBE20272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753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1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E6444D-C50B-4605-B03C-34C5D3F9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753100"/>
            <a:ext cx="742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2175" b="0" i="0">
                <a:solidFill>
                  <a:srgbClr val="17242A"/>
                </a:solidFill>
              </a:defRPr>
            </a:pPr>
            <a:r>
              <a:rPr sz="2175" b="0" i="0">
                <a:solidFill>
                  <a:srgbClr val="17242A"/>
                </a:solidFill>
              </a:rPr>
              <a:t>来自高质量网页的链接，比普通链接贡献更大。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392630-9CF1-4F0A-AA66-1EDBC03F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6400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1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E3C6FF-79F7-40AB-A8C1-5FB583E6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400800"/>
            <a:ext cx="742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2175" b="0" i="0">
                <a:solidFill>
                  <a:srgbClr val="17242A"/>
                </a:solidFill>
              </a:defRPr>
            </a:pPr>
            <a:r>
              <a:rPr sz="2175" b="0" i="0">
                <a:solidFill>
                  <a:srgbClr val="17242A"/>
                </a:solidFill>
              </a:rPr>
              <a:t>一个网页的分数会平均分给它指向的所有网页。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FA97F3-EFD9-4C02-B6B9-88202AAC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70485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1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174478-20E2-4357-85CB-666A4AFB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7048500"/>
            <a:ext cx="742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2175" b="0" i="0">
                <a:solidFill>
                  <a:srgbClr val="17242A"/>
                </a:solidFill>
              </a:defRPr>
            </a:pPr>
            <a:r>
              <a:rPr sz="2175" b="0" i="0">
                <a:solidFill>
                  <a:srgbClr val="17242A"/>
                </a:solidFill>
              </a:rPr>
              <a:t>排名是全图共同决定的，需要反复迭代直到稳定。</a:t>
            </a:r>
          </a:p>
        </p:txBody>
      </p:sp>
    </p:spTree>
    <p:extLst>
      <p:ext uri="{BB962C8B-B14F-4D97-AF65-F5344CB8AC3E}">
        <p14:creationId xmlns:p14="http://schemas.microsoft.com/office/powerpoint/2010/main" val="668824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F0084B-9136-4B75-9A94-A1EA0868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924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1" i="0">
                <a:solidFill>
                  <a:srgbClr val="166B6B"/>
                </a:solidFill>
              </a:defRPr>
            </a:pPr>
            <a:r>
              <a:rPr sz="1650" b="1" i="0">
                <a:solidFill>
                  <a:srgbClr val="166B6B"/>
                </a:solidFill>
              </a:rPr>
              <a:t>PageRank 算法机制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6D1123-CDCF-4C09-854A-9C7D61C7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8585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4050" b="1" i="0">
                <a:solidFill>
                  <a:srgbClr val="17242A"/>
                </a:solidFill>
              </a:defRPr>
            </a:pPr>
            <a:r>
              <a:rPr sz="4050" b="1" i="0">
                <a:solidFill>
                  <a:srgbClr val="17242A"/>
                </a:solidFill>
              </a:rPr>
              <a:t>核心公式：每个网页接收来自入链网页的分数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ADA84E5-733E-455F-8845-5C1E0C8D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6515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0" i="0">
                <a:solidFill>
                  <a:srgbClr val="52636B"/>
                </a:solidFill>
              </a:defRPr>
            </a:pPr>
            <a:r>
              <a:rPr sz="1875" b="0" i="0">
                <a:solidFill>
                  <a:srgbClr val="52636B"/>
                </a:solidFill>
              </a:rPr>
              <a:t>阻尼系数 d 通常取 0.85，用来模拟用户继续点击链接的概率。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5746D-6C24-4D39-B62B-E7E32853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5027"/>
            <a:ext cx="1661160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17242A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A4DE5-DCAA-4D4F-A2D6-E7247F20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5150"/>
            <a:ext cx="15773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PR(A) = (1 - d) / N + d × Σ PR(Tᵢ) / C(Tᵢ)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0DBDB-8885-4086-9EF0-E40D07C1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15773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0" i="0">
                <a:solidFill>
                  <a:srgbClr val="CFE5E0"/>
                </a:solidFill>
              </a:defRPr>
            </a:pPr>
            <a:r>
              <a:rPr sz="1875" b="0" i="0">
                <a:solidFill>
                  <a:srgbClr val="CFE5E0"/>
                </a:solidFill>
              </a:rPr>
              <a:t>Tᵢ 表示所有指向 A 的网页；C(Tᵢ) 表示 Tᵢ 的出链数量；N 是网页总数。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FFC18D-706C-496B-A705-E809E002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70577"/>
            <a:ext cx="5359400" cy="4587773"/>
          </a:xfrm>
          <a:prstGeom xmlns:a="http://schemas.openxmlformats.org/drawingml/2006/main" prst="roundRect">
            <a:avLst>
              <a:gd name="adj" fmla="val 24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9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4FB0C-6F3A-4904-97BC-30A1E212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95900"/>
            <a:ext cx="485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 b="1" i="0">
                <a:solidFill>
                  <a:srgbClr val="D8A034"/>
                </a:solidFill>
              </a:defRPr>
            </a:pPr>
            <a:r>
              <a:rPr sz="1725" b="1" i="0">
                <a:solidFill>
                  <a:srgbClr val="D8A034"/>
                </a:solidFill>
              </a:rPr>
              <a:t>(1-d)/N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09AA7-4048-4034-8DEB-7C9CB8ED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34050"/>
            <a:ext cx="4857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725" b="0" i="0">
                <a:solidFill>
                  <a:srgbClr val="17242A"/>
                </a:solidFill>
              </a:defRPr>
            </a:pPr>
            <a:r>
              <a:rPr sz="1725" b="0" i="0">
                <a:solidFill>
                  <a:srgbClr val="17242A"/>
                </a:solidFill>
              </a:rPr>
              <a:t>随机跳转项：即使没有入链，也保留基础访问概率。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F941DA-00A6-46B0-BD20-75E3291F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5070577"/>
            <a:ext cx="5359400" cy="4587773"/>
          </a:xfrm>
          <a:prstGeom xmlns:a="http://schemas.openxmlformats.org/drawingml/2006/main" prst="roundRect">
            <a:avLst>
              <a:gd name="adj" fmla="val 24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9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D6F54-9993-47CC-9528-93525D63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95900"/>
            <a:ext cx="485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 b="1" i="0">
                <a:solidFill>
                  <a:srgbClr val="166B6B"/>
                </a:solidFill>
              </a:defRPr>
            </a:pPr>
            <a:r>
              <a:rPr sz="1725" b="1" i="0">
                <a:solidFill>
                  <a:srgbClr val="166B6B"/>
                </a:solidFill>
              </a:rPr>
              <a:t>d × 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656AE-801F-4216-8C13-1FFD9BAA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734050"/>
            <a:ext cx="4857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725" b="0" i="0">
                <a:solidFill>
                  <a:srgbClr val="17242A"/>
                </a:solidFill>
              </a:defRPr>
            </a:pPr>
            <a:r>
              <a:rPr sz="1725" b="0" i="0">
                <a:solidFill>
                  <a:srgbClr val="17242A"/>
                </a:solidFill>
              </a:rPr>
              <a:t>沿链接传播项：从指向它的网页接收分数。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7AA718-A81B-494D-AC01-9CACA625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5070577"/>
            <a:ext cx="5359400" cy="4587773"/>
          </a:xfrm>
          <a:prstGeom xmlns:a="http://schemas.openxmlformats.org/drawingml/2006/main" prst="roundRect">
            <a:avLst>
              <a:gd name="adj" fmla="val 24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9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3AEF18-3713-40A0-AAD8-BD26D987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295900"/>
            <a:ext cx="485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 b="1" i="0">
                <a:solidFill>
                  <a:srgbClr val="E86F51"/>
                </a:solidFill>
              </a:defRPr>
            </a:pPr>
            <a:r>
              <a:rPr sz="1725" b="1" i="0">
                <a:solidFill>
                  <a:srgbClr val="E86F51"/>
                </a:solidFill>
              </a:rPr>
              <a:t>/ C(Tᵢ)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ECFE2E-8421-419C-A41D-451892AF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734050"/>
            <a:ext cx="4857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725" b="0" i="0">
                <a:solidFill>
                  <a:srgbClr val="17242A"/>
                </a:solidFill>
              </a:defRPr>
            </a:pPr>
            <a:r>
              <a:rPr sz="1725" b="0" i="0">
                <a:solidFill>
                  <a:srgbClr val="17242A"/>
                </a:solidFill>
              </a:rPr>
              <a:t>分摊机制：出链越多，每条链接分到的权重越小。</a:t>
            </a:r>
          </a:p>
        </p:txBody>
      </p:sp>
    </p:spTree>
    <p:extLst>
      <p:ext uri="{BB962C8B-B14F-4D97-AF65-F5344CB8AC3E}">
        <p14:creationId xmlns:p14="http://schemas.microsoft.com/office/powerpoint/2010/main" val="16146793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C262B7-3431-4859-9842-69502D48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924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1" i="0">
                <a:solidFill>
                  <a:srgbClr val="1E8A7A"/>
                </a:solidFill>
              </a:defRPr>
            </a:pPr>
            <a:r>
              <a:rPr sz="1650" b="1" i="0">
                <a:solidFill>
                  <a:srgbClr val="1E8A7A"/>
                </a:solidFill>
              </a:rPr>
              <a:t>PageRank 算法机制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B30C8F-0FD7-4536-BBB9-277E6FD8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85850"/>
            <a:ext cx="8743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4050" b="1" i="0">
                <a:solidFill>
                  <a:srgbClr val="17242A"/>
                </a:solidFill>
              </a:defRPr>
            </a:pPr>
            <a:r>
              <a:rPr sz="4050" b="1" i="0">
                <a:solidFill>
                  <a:srgbClr val="17242A"/>
                </a:solidFill>
              </a:rPr>
              <a:t>实现机制：初始化、传播、归一、收敛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F0B4B69-F7A9-4753-B792-55640B3A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5962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0" i="0">
                <a:solidFill>
                  <a:srgbClr val="52636B"/>
                </a:solidFill>
              </a:defRPr>
            </a:pPr>
            <a:r>
              <a:rPr sz="1875" b="0" i="0">
                <a:solidFill>
                  <a:srgbClr val="52636B"/>
                </a:solidFill>
              </a:rPr>
              <a:t>算法本质上是在链接图上反复更新每个节点的概率分布。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F71F5-BE9A-4D7F-9F65-17E5B852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914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F6E9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AAAF1-DE10-402B-826D-71FBF27D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914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4270F-CDA1-4CA8-BC4A-1CD2A57D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581400"/>
            <a:ext cx="15468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 i="0">
                <a:solidFill>
                  <a:srgbClr val="17242A"/>
                </a:solidFill>
              </a:defRPr>
            </a:pPr>
            <a:r>
              <a:rPr sz="2325" b="1" i="0">
                <a:solidFill>
                  <a:srgbClr val="17242A"/>
                </a:solidFill>
              </a:rPr>
              <a:t>建立链接矩阵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E583C-97A5-4DDC-94DC-FF246402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00500"/>
            <a:ext cx="1546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725" b="0" i="0">
                <a:solidFill>
                  <a:srgbClr val="52636B"/>
                </a:solidFill>
              </a:defRPr>
            </a:pPr>
            <a:r>
              <a:rPr sz="1725" b="0" i="0">
                <a:solidFill>
                  <a:srgbClr val="52636B"/>
                </a:solidFill>
              </a:rPr>
              <a:t>把每个网页的出链转成转移概率。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EA191-DB87-4777-9570-A1C5A496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914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025" b="0" i="0">
                <a:solidFill>
                  <a:srgbClr val="52636B"/>
                </a:solidFill>
              </a:defRPr>
            </a:pPr>
            <a:r>
              <a:rPr sz="2025" b="0" i="0">
                <a:solidFill>
                  <a:srgbClr val="52636B"/>
                </a:solidFill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8DE20A-2E58-4905-9049-D31C0C8F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914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8A034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5FC15-D84C-4D40-9CBB-8F1E8363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914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83ADD-3820-40B2-82AA-F16C3F6B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048250"/>
            <a:ext cx="15468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 i="0">
                <a:solidFill>
                  <a:srgbClr val="17242A"/>
                </a:solidFill>
              </a:defRPr>
            </a:pPr>
            <a:r>
              <a:rPr sz="2325" b="1" i="0">
                <a:solidFill>
                  <a:srgbClr val="17242A"/>
                </a:solidFill>
              </a:rPr>
              <a:t>初始化 PR 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DA7586-C111-435B-93E3-A65F70AC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467350"/>
            <a:ext cx="1546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725" b="0" i="0">
                <a:solidFill>
                  <a:srgbClr val="52636B"/>
                </a:solidFill>
              </a:defRPr>
            </a:pPr>
            <a:r>
              <a:rPr sz="1725" b="0" i="0">
                <a:solidFill>
                  <a:srgbClr val="52636B"/>
                </a:solidFill>
              </a:rPr>
              <a:t>通常每个网页从 1/N 开始。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A2547-6CA7-4E00-A3BC-1D37B564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914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025" b="0" i="0">
                <a:solidFill>
                  <a:srgbClr val="52636B"/>
                </a:solidFill>
              </a:defRPr>
            </a:pPr>
            <a:r>
              <a:rPr sz="2025" b="0" i="0">
                <a:solidFill>
                  <a:srgbClr val="52636B"/>
                </a:solidFill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E1903-7DB4-4DEF-80E0-F0A882B2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53200"/>
            <a:ext cx="914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86F51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60B484-F797-4C1D-A4E2-429FF91B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6550"/>
            <a:ext cx="914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0D129-87D0-4DA2-A596-444B71B7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496050"/>
            <a:ext cx="15468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 i="0">
                <a:solidFill>
                  <a:srgbClr val="17242A"/>
                </a:solidFill>
              </a:defRPr>
            </a:pPr>
            <a:r>
              <a:rPr sz="2325" b="1" i="0">
                <a:solidFill>
                  <a:srgbClr val="17242A"/>
                </a:solidFill>
              </a:rPr>
              <a:t>按公式迭代更新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54E5B3-3EC4-4BFD-8D6A-224FAD05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915150"/>
            <a:ext cx="1546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725" b="0" i="0">
                <a:solidFill>
                  <a:srgbClr val="52636B"/>
                </a:solidFill>
              </a:defRPr>
            </a:pPr>
            <a:r>
              <a:rPr sz="1725" b="0" i="0">
                <a:solidFill>
                  <a:srgbClr val="52636B"/>
                </a:solidFill>
              </a:rPr>
              <a:t>每轮从入链网页接收被分摊的权重。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B3C951-4EB4-40D5-965A-16B39B9D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391400"/>
            <a:ext cx="914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025" b="0" i="0">
                <a:solidFill>
                  <a:srgbClr val="52636B"/>
                </a:solidFill>
              </a:defRPr>
            </a:pPr>
            <a:r>
              <a:rPr sz="2025" b="0" i="0">
                <a:solidFill>
                  <a:srgbClr val="52636B"/>
                </a:solidFill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930019-E04D-4496-8D05-D7D4AE60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20050"/>
            <a:ext cx="914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66B6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B50579-2FAE-4FD4-B95A-E19108BF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53400"/>
            <a:ext cx="914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A9C6BE-D580-47B4-9A95-CBB0A431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7962900"/>
            <a:ext cx="15468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 i="0">
                <a:solidFill>
                  <a:srgbClr val="17242A"/>
                </a:solidFill>
              </a:defRPr>
            </a:pPr>
            <a:r>
              <a:rPr sz="2325" b="1" i="0">
                <a:solidFill>
                  <a:srgbClr val="17242A"/>
                </a:solidFill>
              </a:rPr>
              <a:t>判断是否收敛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C15B56-1D41-436C-B5FC-4070159B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8382000"/>
            <a:ext cx="1546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725" b="0" i="0">
                <a:solidFill>
                  <a:srgbClr val="52636B"/>
                </a:solidFill>
              </a:defRPr>
            </a:pPr>
            <a:r>
              <a:rPr sz="1725" b="0" i="0">
                <a:solidFill>
                  <a:srgbClr val="52636B"/>
                </a:solidFill>
              </a:rPr>
              <a:t>当相邻两轮变化足够小，输出最终排名。</a:t>
            </a:r>
          </a:p>
        </p:txBody>
      </p:sp>
    </p:spTree>
    <p:extLst>
      <p:ext uri="{BB962C8B-B14F-4D97-AF65-F5344CB8AC3E}">
        <p14:creationId xmlns:p14="http://schemas.microsoft.com/office/powerpoint/2010/main" val="18528141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1C069C-1BFF-46F4-B4A8-9876E574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924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1" i="0">
                <a:solidFill>
                  <a:srgbClr val="D8A034"/>
                </a:solidFill>
              </a:defRPr>
            </a:pPr>
            <a:r>
              <a:rPr sz="1650" b="1" i="0">
                <a:solidFill>
                  <a:srgbClr val="D8A034"/>
                </a:solidFill>
              </a:rPr>
              <a:t>PageRank 算法机制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CC4663-088D-4594-BDE5-42DB688C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85850"/>
            <a:ext cx="8229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4050" b="1" i="0">
                <a:solidFill>
                  <a:srgbClr val="17242A"/>
                </a:solidFill>
              </a:defRPr>
            </a:pPr>
            <a:r>
              <a:rPr sz="4050" b="1" i="0">
                <a:solidFill>
                  <a:srgbClr val="17242A"/>
                </a:solidFill>
              </a:rPr>
              <a:t>小例子：五个节点的排名会逐轮拉开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AD133FD-5D3B-4792-B27F-8871424E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71056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0" i="0">
                <a:solidFill>
                  <a:srgbClr val="52636B"/>
                </a:solidFill>
              </a:defRPr>
            </a:pPr>
            <a:r>
              <a:rPr sz="1875" b="0" i="0">
                <a:solidFill>
                  <a:srgbClr val="52636B"/>
                </a:solidFill>
              </a:rPr>
              <a:t>下面用简化网络演示迭代结果，重点看“高质量入链”如何改变分数。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827C3-C077-4E1B-BFB7-FC7ED72E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380" y="46291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1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CBC21-8713-4CFF-9E9E-8CE637DF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00600"/>
            <a:ext cx="685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2EF2C-B6EC-4913-A1DC-3E6DFBB3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43450"/>
            <a:ext cx="3333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550" b="0" i="0">
                <a:solidFill>
                  <a:srgbClr val="52636B"/>
                </a:solidFill>
              </a:defRPr>
            </a:pPr>
            <a:r>
              <a:rPr sz="2550" b="0" i="0">
                <a:solidFill>
                  <a:srgbClr val="52636B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4C099-AD61-40C6-94C8-243CACC3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4455" y="4533900"/>
            <a:ext cx="8763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8A7A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75789-AAFF-45D3-9B56-F8EEDECF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43450"/>
            <a:ext cx="876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AD182-61CB-4A6D-9815-6505D5B9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343" y="56959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034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52BEC-0D05-4441-84FD-BF98D8CA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67400"/>
            <a:ext cx="685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922A6-F49B-4249-AC23-5C019FF8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810250"/>
            <a:ext cx="3333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550" b="0" i="0">
                <a:solidFill>
                  <a:srgbClr val="52636B"/>
                </a:solidFill>
              </a:defRPr>
            </a:pPr>
            <a:r>
              <a:rPr sz="2550" b="0" i="0">
                <a:solidFill>
                  <a:srgbClr val="52636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6D960-0D69-48FD-B11E-39C30ACA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418" y="5600700"/>
            <a:ext cx="8763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8A7A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144F9-FCED-4C31-BCA6-244C0304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10250"/>
            <a:ext cx="876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F73D6-9FE4-4056-9F88-E5D536E5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10250"/>
            <a:ext cx="3333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550" b="0" i="0">
                <a:solidFill>
                  <a:srgbClr val="52636B"/>
                </a:solidFill>
              </a:defRPr>
            </a:pPr>
            <a:r>
              <a:rPr sz="2550" b="0" i="0">
                <a:solidFill>
                  <a:srgbClr val="52636B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16C0C6-3353-49EB-91C8-861B94B1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993" y="56959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1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DB8939-CCF3-419B-B44D-8FAA5800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867400"/>
            <a:ext cx="685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D46981-D8CB-407E-8AEA-91FD946A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343" y="67627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E9E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6F5909-DE78-4851-9A27-54FA4CF1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6934200"/>
            <a:ext cx="685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3C1714-BAF6-4F72-8852-BAD35758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6877050"/>
            <a:ext cx="3333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550" b="0" i="0">
                <a:solidFill>
                  <a:srgbClr val="52636B"/>
                </a:solidFill>
              </a:defRPr>
            </a:pPr>
            <a:r>
              <a:rPr sz="2550" b="0" i="0">
                <a:solidFill>
                  <a:srgbClr val="52636B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4A45A2-70EE-451F-8724-FFBDCC9B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418" y="6667500"/>
            <a:ext cx="8763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8A7A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E80A2F-E058-4D81-81A1-933467CC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877050"/>
            <a:ext cx="876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2FAA32-C4E1-45CB-9059-0BAFA370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877050"/>
            <a:ext cx="3333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550" b="0" i="0">
                <a:solidFill>
                  <a:srgbClr val="52636B"/>
                </a:solidFill>
              </a:defRPr>
            </a:pPr>
            <a:r>
              <a:rPr sz="2550" b="0" i="0">
                <a:solidFill>
                  <a:srgbClr val="52636B"/>
                </a:solidFill>
              </a:rPr>
              <a:t>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516822-B0E7-47E6-BB7F-FBD9B258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993" y="67627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5A97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28848D-3C1E-4051-8F3B-51346CAF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934200"/>
            <a:ext cx="685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48FBC2-9D36-4D7E-942B-23A88401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985" y="4382757"/>
            <a:ext cx="172480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B6B"/>
          </a:solidFill>
          <a:ln xmlns:a="http://schemas.openxmlformats.org/drawingml/2006/main" w="9525">
            <a:solidFill>
              <a:srgbClr val="C8D9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068947-4FB8-417D-B326-29CE984A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14850"/>
            <a:ext cx="144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轮次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F9397C-AD50-45EC-9EA6-FB00254E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788" y="4382757"/>
            <a:ext cx="15680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B6B"/>
          </a:solidFill>
          <a:ln xmlns:a="http://schemas.openxmlformats.org/drawingml/2006/main" w="9525">
            <a:solidFill>
              <a:srgbClr val="C8D9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899713-3169-485C-9F67-191AEAC0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14850"/>
            <a:ext cx="1295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E83406-F921-4FB8-888D-E4880962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7790" y="4382757"/>
            <a:ext cx="15680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B6B"/>
          </a:solidFill>
          <a:ln xmlns:a="http://schemas.openxmlformats.org/drawingml/2006/main" w="9525">
            <a:solidFill>
              <a:srgbClr val="C8D9D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6585C9-4380-40FF-BDD8-2A526E98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14850"/>
            <a:ext cx="1295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A4E884-F440-45EE-BBD5-7E5DF6EC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5793" y="4382757"/>
            <a:ext cx="15680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B6B"/>
          </a:solidFill>
          <a:ln xmlns:a="http://schemas.openxmlformats.org/drawingml/2006/main" w="9525">
            <a:solidFill>
              <a:srgbClr val="C8D9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0DE6C6-85E6-4E5C-A37C-C978F3C5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4514850"/>
            <a:ext cx="1295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63B523-436F-46E0-81D0-70F3168B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3795" y="4382757"/>
            <a:ext cx="15680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B6B"/>
          </a:solidFill>
          <a:ln xmlns:a="http://schemas.openxmlformats.org/drawingml/2006/main" w="9525">
            <a:solidFill>
              <a:srgbClr val="C8D9D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1B2DF0-C267-4527-A0C4-FCFB9197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4514850"/>
            <a:ext cx="1295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C4F2A1-CB1E-4505-9D1D-C36D6000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1798" y="4382757"/>
            <a:ext cx="15680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B6B"/>
          </a:solidFill>
          <a:ln xmlns:a="http://schemas.openxmlformats.org/drawingml/2006/main" w="9525">
            <a:solidFill>
              <a:srgbClr val="C8D9D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BEF4AF-58F1-48CE-87E5-B9B241F4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4514850"/>
            <a:ext cx="1295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F2FD43-70F7-425D-8ADE-8E70F5BC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985" y="4935207"/>
            <a:ext cx="172480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9D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7082AC-6CEF-4321-9EA2-F528CD58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24450"/>
            <a:ext cx="144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0" i="0">
                <a:solidFill>
                  <a:srgbClr val="17242A"/>
                </a:solidFill>
              </a:defRPr>
            </a:pPr>
            <a:r>
              <a:rPr sz="1800" b="0" i="0">
                <a:solidFill>
                  <a:srgbClr val="17242A"/>
                </a:solidFill>
              </a:rPr>
              <a:t>初始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3BCA29-2028-4C73-9A78-22B16C9E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788" y="4935207"/>
            <a:ext cx="156800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9D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DF866C-B017-4F47-9623-765D9C83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124450"/>
            <a:ext cx="1295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0" i="0">
                <a:solidFill>
                  <a:srgbClr val="17242A"/>
                </a:solidFill>
              </a:defRPr>
            </a:pPr>
            <a:r>
              <a:rPr sz="1800" b="0" i="0">
                <a:solidFill>
                  <a:srgbClr val="17242A"/>
                </a:solidFill>
              </a:rPr>
              <a:t>0.20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3F35CA-6629-4557-A5B7-B2A083DB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7790" y="4935207"/>
            <a:ext cx="156800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9D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22AA9B-A025-4FA4-9947-1678CC2C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124450"/>
            <a:ext cx="1295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0" i="0">
                <a:solidFill>
                  <a:srgbClr val="17242A"/>
                </a:solidFill>
              </a:defRPr>
            </a:pPr>
            <a:r>
              <a:rPr sz="1800" b="0" i="0">
                <a:solidFill>
                  <a:srgbClr val="17242A"/>
                </a:solidFill>
              </a:rPr>
              <a:t>0.20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62C4D3-550C-4E2B-86E6-583E130E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5793" y="4935207"/>
            <a:ext cx="156800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F"/>
          </a:solidFill>
          <a:ln xmlns:a="http://schemas.openxmlformats.org/drawingml/2006/main" w="9525">
            <a:solidFill>
              <a:srgbClr val="C8D9D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3356B6-8E07-4A3B-80FC-913454E7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5124450"/>
            <a:ext cx="1295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 i="0">
                <a:solidFill>
                  <a:srgbClr val="17242A"/>
                </a:solidFill>
              </a:defRPr>
            </a:pPr>
            <a:r>
              <a:rPr sz="1800" b="1" i="0">
                <a:solidFill>
                  <a:srgbClr val="17242A"/>
                </a:solidFill>
              </a:rPr>
              <a:t>0.20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185DED-F9CE-4506-B5E6-2C1FB7B6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3795" y="4935207"/>
            <a:ext cx="156800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9D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5F2E93-B034-49EB-ADB3-4F26681F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5124450"/>
            <a:ext cx="1295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0" i="0">
                <a:solidFill>
                  <a:srgbClr val="17242A"/>
                </a:solidFill>
              </a:defRPr>
            </a:pPr>
            <a:r>
              <a:rPr sz="1800" b="0" i="0">
                <a:solidFill>
                  <a:srgbClr val="17242A"/>
                </a:solidFill>
              </a:rPr>
              <a:t>0.20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5BBB45-1BFF-4EA3-8624-E970AA8F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1798" y="4935207"/>
            <a:ext cx="156800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9D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57916E-AF84-4468-A4BF-6D8C69BF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5124450"/>
            <a:ext cx="1295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0" i="0">
                <a:solidFill>
                  <a:srgbClr val="17242A"/>
                </a:solidFill>
              </a:defRPr>
            </a:pPr>
            <a:r>
              <a:rPr sz="1800" b="0" i="0">
                <a:solidFill>
                  <a:srgbClr val="17242A"/>
                </a:solidFill>
              </a:rPr>
              <a:t>0.20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D6678C4-5B8D-4ECE-B197-AC60F4B5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985" y="5621007"/>
            <a:ext cx="172480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9D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387E23E-1294-4D6A-9150-3AAD9542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810250"/>
            <a:ext cx="144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0" i="0">
                <a:solidFill>
                  <a:srgbClr val="17242A"/>
                </a:solidFill>
              </a:defRPr>
            </a:pPr>
            <a:r>
              <a:rPr sz="1800" b="0" i="0">
                <a:solidFill>
                  <a:srgbClr val="17242A"/>
                </a:solidFill>
              </a:rPr>
              <a:t>第1轮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E2FC021-9420-4ED4-9865-AAC2082C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788" y="5621007"/>
            <a:ext cx="156800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9D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FB3456-6A2D-49C2-9B7F-DD862046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810250"/>
            <a:ext cx="1295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0" i="0">
                <a:solidFill>
                  <a:srgbClr val="17242A"/>
                </a:solidFill>
              </a:defRPr>
            </a:pPr>
            <a:r>
              <a:rPr sz="1800" b="0" i="0">
                <a:solidFill>
                  <a:srgbClr val="17242A"/>
                </a:solidFill>
              </a:rPr>
              <a:t>0.20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FA2440-ABB5-45C3-AD8E-05D5291A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7790" y="5621007"/>
            <a:ext cx="156800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9D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D0EE91-075F-4F6B-AADA-3154CAC2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810250"/>
            <a:ext cx="1295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0" i="0">
                <a:solidFill>
                  <a:srgbClr val="17242A"/>
                </a:solidFill>
              </a:defRPr>
            </a:pPr>
            <a:r>
              <a:rPr sz="1800" b="0" i="0">
                <a:solidFill>
                  <a:srgbClr val="17242A"/>
                </a:solidFill>
              </a:rPr>
              <a:t>0.03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B6BF9EF-7520-4A43-86F4-E4CE1483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5793" y="5621007"/>
            <a:ext cx="156800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F"/>
          </a:solidFill>
          <a:ln xmlns:a="http://schemas.openxmlformats.org/drawingml/2006/main" w="9525">
            <a:solidFill>
              <a:srgbClr val="C8D9D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818F31F-861E-46F7-BB2E-3D0BE66F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5810250"/>
            <a:ext cx="1295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 i="0">
                <a:solidFill>
                  <a:srgbClr val="17242A"/>
                </a:solidFill>
              </a:defRPr>
            </a:pPr>
            <a:r>
              <a:rPr sz="1800" b="1" i="0">
                <a:solidFill>
                  <a:srgbClr val="17242A"/>
                </a:solidFill>
              </a:rPr>
              <a:t>0.54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DCD7C8-E95A-44D5-914C-7F58BA06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3795" y="5621007"/>
            <a:ext cx="156800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9D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0D1D8B8-61BA-4730-A157-5F4674B4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5810250"/>
            <a:ext cx="1295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0" i="0">
                <a:solidFill>
                  <a:srgbClr val="17242A"/>
                </a:solidFill>
              </a:defRPr>
            </a:pPr>
            <a:r>
              <a:rPr sz="1800" b="0" i="0">
                <a:solidFill>
                  <a:srgbClr val="17242A"/>
                </a:solidFill>
              </a:rPr>
              <a:t>0.03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3B769C1-C700-4C57-8F05-85E21B3F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1798" y="5621007"/>
            <a:ext cx="156800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9D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AB9D512-353F-41C2-99C5-93EABDAC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5810250"/>
            <a:ext cx="1295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0" i="0">
                <a:solidFill>
                  <a:srgbClr val="17242A"/>
                </a:solidFill>
              </a:defRPr>
            </a:pPr>
            <a:r>
              <a:rPr sz="1800" b="0" i="0">
                <a:solidFill>
                  <a:srgbClr val="17242A"/>
                </a:solidFill>
              </a:rPr>
              <a:t>0.20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0FA1159-74A4-4936-B747-180C0C2F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985" y="6306807"/>
            <a:ext cx="172480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9D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B049F9D-1649-414B-9D14-BFDDF571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496050"/>
            <a:ext cx="144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0" i="0">
                <a:solidFill>
                  <a:srgbClr val="17242A"/>
                </a:solidFill>
              </a:defRPr>
            </a:pPr>
            <a:r>
              <a:rPr sz="1800" b="0" i="0">
                <a:solidFill>
                  <a:srgbClr val="17242A"/>
                </a:solidFill>
              </a:rPr>
              <a:t>第2轮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814AC4D-F13F-4522-90AF-E5268332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788" y="6306807"/>
            <a:ext cx="156800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9D4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1F51347-1396-4A39-9BCA-D8754E4F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96050"/>
            <a:ext cx="1295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0" i="0">
                <a:solidFill>
                  <a:srgbClr val="17242A"/>
                </a:solidFill>
              </a:defRPr>
            </a:pPr>
            <a:r>
              <a:rPr sz="1800" b="0" i="0">
                <a:solidFill>
                  <a:srgbClr val="17242A"/>
                </a:solidFill>
              </a:rPr>
              <a:t>0.49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255ABD8-E8BE-4B59-838C-163E4807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7790" y="6306807"/>
            <a:ext cx="156800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9D4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96CCEF1-9C38-4A9F-A840-29C5FF82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1295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0" i="0">
                <a:solidFill>
                  <a:srgbClr val="17242A"/>
                </a:solidFill>
              </a:defRPr>
            </a:pPr>
            <a:r>
              <a:rPr sz="1800" b="0" i="0">
                <a:solidFill>
                  <a:srgbClr val="17242A"/>
                </a:solidFill>
              </a:rPr>
              <a:t>0.03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D4C328F-8412-420F-9155-7515938A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5793" y="6306807"/>
            <a:ext cx="156800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F"/>
          </a:solidFill>
          <a:ln xmlns:a="http://schemas.openxmlformats.org/drawingml/2006/main" w="9525">
            <a:solidFill>
              <a:srgbClr val="C8D9D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ABCDCC2-E21E-4623-B614-1313147C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6496050"/>
            <a:ext cx="1295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 i="0">
                <a:solidFill>
                  <a:srgbClr val="17242A"/>
                </a:solidFill>
              </a:defRPr>
            </a:pPr>
            <a:r>
              <a:rPr sz="1800" b="1" i="0">
                <a:solidFill>
                  <a:srgbClr val="17242A"/>
                </a:solidFill>
              </a:rPr>
              <a:t>0.33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B092AE7-913F-4815-A461-4C75A4D4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3795" y="6306807"/>
            <a:ext cx="156800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9D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BC732E2-103E-417B-B35D-40BBA4A3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6496050"/>
            <a:ext cx="1295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0" i="0">
                <a:solidFill>
                  <a:srgbClr val="17242A"/>
                </a:solidFill>
              </a:defRPr>
            </a:pPr>
            <a:r>
              <a:rPr sz="1800" b="0" i="0">
                <a:solidFill>
                  <a:srgbClr val="17242A"/>
                </a:solidFill>
              </a:rPr>
              <a:t>0.03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804DAAE-D598-403F-85D3-4DABB61C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1798" y="6306807"/>
            <a:ext cx="156800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9D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6756EF2-928B-445A-9314-7EEE6B20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6496050"/>
            <a:ext cx="1295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0" i="0">
                <a:solidFill>
                  <a:srgbClr val="17242A"/>
                </a:solidFill>
              </a:defRPr>
            </a:pPr>
            <a:r>
              <a:rPr sz="1800" b="0" i="0">
                <a:solidFill>
                  <a:srgbClr val="17242A"/>
                </a:solidFill>
              </a:rPr>
              <a:t>0.12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57FA177-1640-42A7-B749-A31BF402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985" y="6992607"/>
            <a:ext cx="172480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9D4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8A502B0-4ED0-4870-A77B-83EF408F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181850"/>
            <a:ext cx="144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0" i="0">
                <a:solidFill>
                  <a:srgbClr val="17242A"/>
                </a:solidFill>
              </a:defRPr>
            </a:pPr>
            <a:r>
              <a:rPr sz="1800" b="0" i="0">
                <a:solidFill>
                  <a:srgbClr val="17242A"/>
                </a:solidFill>
              </a:rPr>
              <a:t>稳定后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CEB6DBC-EC73-4307-97E2-BE299850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788" y="6992607"/>
            <a:ext cx="156800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9D4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577F715-5AB7-4800-ADFD-76257299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181850"/>
            <a:ext cx="1295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0" i="0">
                <a:solidFill>
                  <a:srgbClr val="17242A"/>
                </a:solidFill>
              </a:defRPr>
            </a:pPr>
            <a:r>
              <a:rPr sz="1800" b="0" i="0">
                <a:solidFill>
                  <a:srgbClr val="17242A"/>
                </a:solidFill>
              </a:rPr>
              <a:t>0.38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0C8F1DC-B2AC-4D2A-A54F-E03AE447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7790" y="6992607"/>
            <a:ext cx="156800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9D4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D4A604C-EA42-43C5-AD8D-D4A830FB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7181850"/>
            <a:ext cx="1295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0" i="0">
                <a:solidFill>
                  <a:srgbClr val="17242A"/>
                </a:solidFill>
              </a:defRPr>
            </a:pPr>
            <a:r>
              <a:rPr sz="1800" b="0" i="0">
                <a:solidFill>
                  <a:srgbClr val="17242A"/>
                </a:solidFill>
              </a:rPr>
              <a:t>0.04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12AEDE4-7E5D-4CF2-B378-80F93FA6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5793" y="6992607"/>
            <a:ext cx="156800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F"/>
          </a:solidFill>
          <a:ln xmlns:a="http://schemas.openxmlformats.org/drawingml/2006/main" w="9525">
            <a:solidFill>
              <a:srgbClr val="C8D9D4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8496E92-24FD-4C7C-A249-37A2DF1A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7181850"/>
            <a:ext cx="1295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 i="0">
                <a:solidFill>
                  <a:srgbClr val="17242A"/>
                </a:solidFill>
              </a:defRPr>
            </a:pPr>
            <a:r>
              <a:rPr sz="1800" b="1" i="0">
                <a:solidFill>
                  <a:srgbClr val="17242A"/>
                </a:solidFill>
              </a:rPr>
              <a:t>0.42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87748BC-FAE6-4FB6-906D-322B823B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3795" y="6992607"/>
            <a:ext cx="156800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9D4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0F86450-BF45-40FE-96AA-810E2A79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7181850"/>
            <a:ext cx="1295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0" i="0">
                <a:solidFill>
                  <a:srgbClr val="17242A"/>
                </a:solidFill>
              </a:defRPr>
            </a:pPr>
            <a:r>
              <a:rPr sz="1800" b="0" i="0">
                <a:solidFill>
                  <a:srgbClr val="17242A"/>
                </a:solidFill>
              </a:rPr>
              <a:t>0.04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FB94814-0DE0-4A8A-8FDD-A631AF62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1798" y="6992607"/>
            <a:ext cx="156800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9D4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94E2DC1-41E2-4757-918C-93DE4029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7181850"/>
            <a:ext cx="1295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0" i="0">
                <a:solidFill>
                  <a:srgbClr val="17242A"/>
                </a:solidFill>
              </a:defRPr>
            </a:pPr>
            <a:r>
              <a:rPr sz="1800" b="0" i="0">
                <a:solidFill>
                  <a:srgbClr val="17242A"/>
                </a:solidFill>
              </a:rPr>
              <a:t>0.12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1D6525A-0988-4F21-8CF9-FAF10D6F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661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 b="0" i="0">
                <a:solidFill>
                  <a:srgbClr val="52636B"/>
                </a:solidFill>
              </a:defRPr>
            </a:pPr>
            <a:r>
              <a:rPr sz="1200" b="0" i="0">
                <a:solidFill>
                  <a:srgbClr val="52636B"/>
                </a:solidFill>
              </a:rPr>
              <a:t>注：数值用于课堂演示，展示迭代趋势；实际计算取决于完整链接矩阵与收敛阈值。</a:t>
            </a:r>
          </a:p>
        </p:txBody>
      </p:sp>
    </p:spTree>
    <p:extLst>
      <p:ext uri="{BB962C8B-B14F-4D97-AF65-F5344CB8AC3E}">
        <p14:creationId xmlns:p14="http://schemas.microsoft.com/office/powerpoint/2010/main" val="13242507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3FCB0E-A4D9-4DFB-AAFE-09F194A7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924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1" i="0">
                <a:solidFill>
                  <a:srgbClr val="E86F51"/>
                </a:solidFill>
              </a:defRPr>
            </a:pPr>
            <a:r>
              <a:rPr sz="1650" b="1" i="0">
                <a:solidFill>
                  <a:srgbClr val="E86F51"/>
                </a:solidFill>
              </a:rPr>
              <a:t>PageRank 算法机制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E0CBF8-B0F3-44CE-AF57-5319C8D3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85850"/>
            <a:ext cx="6172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4050" b="1" i="0">
                <a:solidFill>
                  <a:srgbClr val="17242A"/>
                </a:solidFill>
              </a:defRPr>
            </a:pPr>
            <a:r>
              <a:rPr sz="4050" b="1" i="0">
                <a:solidFill>
                  <a:srgbClr val="17242A"/>
                </a:solidFill>
              </a:rPr>
              <a:t>阻尼系数解决两个现实问题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C5E2A32-88EC-4EC7-A6E2-9AEE0D0E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7143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0" i="0">
                <a:solidFill>
                  <a:srgbClr val="52636B"/>
                </a:solidFill>
              </a:defRPr>
            </a:pPr>
            <a:r>
              <a:rPr sz="1875" b="0" i="0">
                <a:solidFill>
                  <a:srgbClr val="52636B"/>
                </a:solidFill>
              </a:rPr>
              <a:t>真实用户不会永远沿链接点击，也可能突然输入新网址或重新搜索。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98A64-069F-41DB-961A-D531C969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6596"/>
            <a:ext cx="8105775" cy="1221486"/>
          </a:xfrm>
          <a:prstGeom xmlns:a="http://schemas.openxmlformats.org/drawingml/2006/main" prst="roundRect">
            <a:avLst>
              <a:gd name="adj" fmla="val 9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9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4A7BA-3158-4E39-B14F-6F98ECC3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38700"/>
            <a:ext cx="7620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 b="1" i="0">
                <a:solidFill>
                  <a:srgbClr val="E86F51"/>
                </a:solidFill>
              </a:defRPr>
            </a:pPr>
            <a:r>
              <a:rPr sz="1725" b="1" i="0">
                <a:solidFill>
                  <a:srgbClr val="E86F51"/>
                </a:solidFill>
              </a:rPr>
              <a:t>死胡同节点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0507A-61E6-45C0-8004-41D71AD4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76850"/>
            <a:ext cx="7620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725" b="0" i="0">
                <a:solidFill>
                  <a:srgbClr val="17242A"/>
                </a:solidFill>
              </a:defRPr>
            </a:pPr>
            <a:r>
              <a:rPr sz="1725" b="0" i="0">
                <a:solidFill>
                  <a:srgbClr val="17242A"/>
                </a:solidFill>
              </a:rPr>
              <a:t>没有出链的网页会让分数无法继续传播，需要把它的概率重新分配到全图。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0CE2D-405F-4C9D-A384-8DE74DB0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66682"/>
            <a:ext cx="8105775" cy="1550099"/>
          </a:xfrm>
          <a:prstGeom xmlns:a="http://schemas.openxmlformats.org/drawingml/2006/main" prst="roundRect">
            <a:avLst>
              <a:gd name="adj" fmla="val 73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9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D3010-C7CB-4FC0-8C97-1C43B761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286500"/>
            <a:ext cx="7620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 b="1" i="0">
                <a:solidFill>
                  <a:srgbClr val="D8A034"/>
                </a:solidFill>
              </a:defRPr>
            </a:pPr>
            <a:r>
              <a:rPr sz="1725" b="1" i="0">
                <a:solidFill>
                  <a:srgbClr val="D8A034"/>
                </a:solidFill>
              </a:rPr>
              <a:t>小圈套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B43FF2-CC8D-478E-8DA1-F9A1174A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724650"/>
            <a:ext cx="7620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725" b="0" i="0">
                <a:solidFill>
                  <a:srgbClr val="17242A"/>
                </a:solidFill>
              </a:defRPr>
            </a:pPr>
            <a:r>
              <a:rPr sz="1725" b="0" i="0">
                <a:solidFill>
                  <a:srgbClr val="17242A"/>
                </a:solidFill>
              </a:rPr>
              <a:t>几个网页互相链接可能困住随机浏览者，随机跳转项让概率能够跳出局部循环。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C3D09-BB23-469C-98C1-34F2D6C6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575027"/>
            <a:ext cx="8105775" cy="7083323"/>
          </a:xfrm>
          <a:prstGeom xmlns:a="http://schemas.openxmlformats.org/drawingml/2006/main" prst="roundRect">
            <a:avLst>
              <a:gd name="adj" fmla="val 2958"/>
            </a:avLst>
          </a:prstGeom>
          <a:solidFill xmlns:a="http://schemas.openxmlformats.org/drawingml/2006/main">
            <a:srgbClr val="17242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727EDE-AB40-4CEF-B142-B140D69B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914900"/>
            <a:ext cx="742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随机浏览者模型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3BA82-A918-41EE-B87C-0F645426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638800"/>
            <a:ext cx="74295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2325" b="0" i="0">
                <a:solidFill>
                  <a:srgbClr val="CFE5E0"/>
                </a:solidFill>
              </a:defRPr>
            </a:pPr>
            <a:r>
              <a:rPr sz="2325" b="0" i="0">
                <a:solidFill>
                  <a:srgbClr val="CFE5E0"/>
                </a:solidFill>
              </a:rPr>
              <a:t>以 d 的概率继续点击当前网页上的链接；以 1-d 的概率随机跳到任意网页。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549F7-316B-4BA2-8716-BF4C952A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705600"/>
            <a:ext cx="190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1"/>
          </a:solidFill>
          <a:ln xmlns:a="http://schemas.openxmlformats.org/drawingml/2006/main" w="0">
            <a:solidFill>
              <a:srgbClr val="E86F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224D7-8298-4EDE-9E8A-DADA5116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953250"/>
            <a:ext cx="7429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这让排名计算既反映链接结构，又能在数学上稳定收敛。</a:t>
            </a:r>
          </a:p>
        </p:txBody>
      </p:sp>
    </p:spTree>
    <p:extLst>
      <p:ext uri="{BB962C8B-B14F-4D97-AF65-F5344CB8AC3E}">
        <p14:creationId xmlns:p14="http://schemas.microsoft.com/office/powerpoint/2010/main" val="4229126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3F20D8-ECFA-4F53-8F4D-48A244A6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924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1" i="0">
                <a:solidFill>
                  <a:srgbClr val="2F6E9E"/>
                </a:solidFill>
              </a:defRPr>
            </a:pPr>
            <a:r>
              <a:rPr sz="1650" b="1" i="0">
                <a:solidFill>
                  <a:srgbClr val="2F6E9E"/>
                </a:solidFill>
              </a:rPr>
              <a:t>PageRank 算法机制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714164-0175-4C69-A3E4-18FD4E1E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85850"/>
            <a:ext cx="8743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4050" b="1" i="0">
                <a:solidFill>
                  <a:srgbClr val="17242A"/>
                </a:solidFill>
              </a:defRPr>
            </a:pPr>
            <a:r>
              <a:rPr sz="4050" b="1" i="0">
                <a:solidFill>
                  <a:srgbClr val="17242A"/>
                </a:solidFill>
              </a:rPr>
              <a:t>为什么它能跨越社会科学与自然科学？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050ED02-D627-41E7-A5BB-F1E652CD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71056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0" i="0">
                <a:solidFill>
                  <a:srgbClr val="52636B"/>
                </a:solidFill>
              </a:defRPr>
            </a:pPr>
            <a:r>
              <a:rPr sz="1875" b="0" i="0">
                <a:solidFill>
                  <a:srgbClr val="52636B"/>
                </a:solidFill>
              </a:rPr>
              <a:t>PageRank 体现的是图中心性：节点的重要性由网络关系共同塑造。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76691-12B7-409F-9787-A5D15365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7927"/>
            <a:ext cx="5359400" cy="5622188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9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AD15C-BFF2-42F5-A167-FAD57936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485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 b="1" i="0">
                <a:solidFill>
                  <a:srgbClr val="E86F51"/>
                </a:solidFill>
              </a:defRPr>
            </a:pPr>
            <a:r>
              <a:rPr sz="1725" b="1" i="0">
                <a:solidFill>
                  <a:srgbClr val="E86F51"/>
                </a:solidFill>
              </a:rPr>
              <a:t>社会科学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C420F-BB85-42AB-A2ED-082FD02E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81400"/>
            <a:ext cx="4857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725" b="0" i="0">
                <a:solidFill>
                  <a:srgbClr val="17242A"/>
                </a:solidFill>
              </a:defRPr>
            </a:pPr>
            <a:r>
              <a:rPr sz="1725" b="0" i="0">
                <a:solidFill>
                  <a:srgbClr val="17242A"/>
                </a:solidFill>
              </a:rPr>
              <a:t>用于识别社交网络中的关键人物、信息扩散核心、合作网络中的影响者。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F632E-E332-4DE4-B7FB-09A42008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2917927"/>
            <a:ext cx="5359400" cy="5622188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9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F99BD-3CB4-4211-AC6E-5356F4A8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485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 b="1" i="0">
                <a:solidFill>
                  <a:srgbClr val="166B6B"/>
                </a:solidFill>
              </a:defRPr>
            </a:pPr>
            <a:r>
              <a:rPr sz="1725" b="1" i="0">
                <a:solidFill>
                  <a:srgbClr val="166B6B"/>
                </a:solidFill>
              </a:rPr>
              <a:t>自然科学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84B35-58E4-44E7-BB5C-8EB6741C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81400"/>
            <a:ext cx="4857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725" b="0" i="0">
                <a:solidFill>
                  <a:srgbClr val="17242A"/>
                </a:solidFill>
              </a:defRPr>
            </a:pPr>
            <a:r>
              <a:rPr sz="1725" b="0" i="0">
                <a:solidFill>
                  <a:srgbClr val="17242A"/>
                </a:solidFill>
              </a:rPr>
              <a:t>用于分析蛋白质相互作用、生态网络、神经连接等复杂系统中的关键节点。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904E9-9A46-4B0C-8CE3-333D861B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2917927"/>
            <a:ext cx="5359400" cy="5622188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9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D4769-009A-4A78-98C2-5E00576B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143250"/>
            <a:ext cx="485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 b="1" i="0">
                <a:solidFill>
                  <a:srgbClr val="2F6E9E"/>
                </a:solidFill>
              </a:defRPr>
            </a:pPr>
            <a:r>
              <a:rPr sz="1725" b="1" i="0">
                <a:solidFill>
                  <a:srgbClr val="2F6E9E"/>
                </a:solidFill>
              </a:rPr>
              <a:t>知识发现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C1112-DB1A-492D-BBDF-E4DBBAF0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581400"/>
            <a:ext cx="4857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725" b="0" i="0">
                <a:solidFill>
                  <a:srgbClr val="17242A"/>
                </a:solidFill>
              </a:defRPr>
            </a:pPr>
            <a:r>
              <a:rPr sz="1725" b="0" i="0">
                <a:solidFill>
                  <a:srgbClr val="17242A"/>
                </a:solidFill>
              </a:rPr>
              <a:t>用于论文引用、学者合作、推荐系统等任务，把“关系”转化为排序。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430DE-B0BF-429B-8042-20E4A52D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844915"/>
            <a:ext cx="16611600" cy="813435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6F1E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738467-3B34-416E-AB81-F72AEECD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048750"/>
            <a:ext cx="16040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250" b="1" i="0">
                <a:solidFill>
                  <a:srgbClr val="17242A"/>
                </a:solidFill>
              </a:defRPr>
            </a:pPr>
            <a:r>
              <a:rPr sz="2250" b="1" i="0">
                <a:solidFill>
                  <a:srgbClr val="17242A"/>
                </a:solidFill>
              </a:rPr>
              <a:t>启示：图不是只画关系，而是提供一种计算机制，让关系产生可比较的量化结果。</a:t>
            </a:r>
          </a:p>
        </p:txBody>
      </p:sp>
    </p:spTree>
    <p:extLst>
      <p:ext uri="{BB962C8B-B14F-4D97-AF65-F5344CB8AC3E}">
        <p14:creationId xmlns:p14="http://schemas.microsoft.com/office/powerpoint/2010/main" val="18514671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C4E305-35D4-4DD3-90C9-6F50C0A2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924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1" i="0">
                <a:solidFill>
                  <a:srgbClr val="166B6B"/>
                </a:solidFill>
              </a:defRPr>
            </a:pPr>
            <a:r>
              <a:rPr sz="1650" b="1" i="0">
                <a:solidFill>
                  <a:srgbClr val="166B6B"/>
                </a:solidFill>
              </a:rPr>
              <a:t>PageRank 算法机制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AB59F9-2C1C-4880-9AF0-68C9FCE1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85850"/>
            <a:ext cx="8324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4050" b="1" i="0">
                <a:solidFill>
                  <a:srgbClr val="17242A"/>
                </a:solidFill>
              </a:defRPr>
            </a:pPr>
            <a:r>
              <a:rPr sz="4050" b="1" i="0">
                <a:solidFill>
                  <a:srgbClr val="17242A"/>
                </a:solidFill>
              </a:rPr>
              <a:t>理解 PageRank，也要理解它的边界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5E7C4BF-21C7-490D-ABD8-6C401656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377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0" i="0">
                <a:solidFill>
                  <a:srgbClr val="52636B"/>
                </a:solidFill>
              </a:defRPr>
            </a:pPr>
            <a:r>
              <a:rPr sz="1875" b="0" i="0">
                <a:solidFill>
                  <a:srgbClr val="52636B"/>
                </a:solidFill>
              </a:rPr>
              <a:t>算法强大，但并不等于“真理排名”。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83143-0DE0-4D0A-AFC6-93C09534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1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B3A2B-D480-4E46-8A3B-223AAA10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48300"/>
            <a:ext cx="7410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2175" b="0" i="0">
                <a:solidFill>
                  <a:srgbClr val="17242A"/>
                </a:solidFill>
              </a:defRPr>
            </a:pPr>
            <a:r>
              <a:rPr sz="2175" b="0" i="0">
                <a:solidFill>
                  <a:srgbClr val="17242A"/>
                </a:solidFill>
              </a:rPr>
              <a:t>链接可以被操纵，例如链接农场和互相刷链接。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1A53A-D9AE-4213-A6F1-0C978DDE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769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1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34023-1261-48B0-A306-D09F3742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076950"/>
            <a:ext cx="7410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2175" b="0" i="0">
                <a:solidFill>
                  <a:srgbClr val="17242A"/>
                </a:solidFill>
              </a:defRPr>
            </a:pPr>
            <a:r>
              <a:rPr sz="2175" b="0" i="0">
                <a:solidFill>
                  <a:srgbClr val="17242A"/>
                </a:solidFill>
              </a:rPr>
              <a:t>新网页天然缺少入链，可能被低估。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5DC63-C8A4-470D-8F94-26098880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056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1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CF5322-3F94-45A2-956D-7A5927E9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705600"/>
            <a:ext cx="7410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2175" b="0" i="0">
                <a:solidFill>
                  <a:srgbClr val="17242A"/>
                </a:solidFill>
              </a:defRPr>
            </a:pPr>
            <a:r>
              <a:rPr sz="2175" b="0" i="0">
                <a:solidFill>
                  <a:srgbClr val="17242A"/>
                </a:solidFill>
              </a:rPr>
              <a:t>重要性不等于相关性，搜索仍需要结合文本和用户意图。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BD183-8245-4907-B77E-B5EE981D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736" y="2917927"/>
            <a:ext cx="8511064" cy="6740423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EDF3F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2F3C8-D44C-4566-A58F-EDECAFAA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7715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625" b="1" i="0">
                <a:solidFill>
                  <a:srgbClr val="166B6B"/>
                </a:solidFill>
              </a:defRPr>
            </a:pPr>
            <a:r>
              <a:rPr sz="2625" b="1" i="0">
                <a:solidFill>
                  <a:srgbClr val="166B6B"/>
                </a:solidFill>
              </a:rPr>
              <a:t>课堂结论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07415D-8FFA-440B-831C-D6B9E878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581650"/>
            <a:ext cx="7715250" cy="205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850" b="1" i="0">
                <a:solidFill>
                  <a:srgbClr val="17242A"/>
                </a:solidFill>
              </a:defRPr>
            </a:pPr>
            <a:r>
              <a:rPr sz="2850" b="1" i="0">
                <a:solidFill>
                  <a:srgbClr val="17242A"/>
                </a:solidFill>
              </a:rPr>
              <a:t>PageRank 的真正价值，不只在搜索排序，而在于它展示了图结构如何被转化为可计算、可解释、可迁移的知识。</a:t>
            </a:r>
          </a:p>
        </p:txBody>
      </p:sp>
    </p:spTree>
    <p:extLst>
      <p:ext uri="{BB962C8B-B14F-4D97-AF65-F5344CB8AC3E}">
        <p14:creationId xmlns:p14="http://schemas.microsoft.com/office/powerpoint/2010/main" val="405583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0E3907-0E04-4826-83DA-C73EC23F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924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1" i="0">
                <a:solidFill>
                  <a:srgbClr val="D8A034"/>
                </a:solidFill>
              </a:defRPr>
            </a:pPr>
            <a:r>
              <a:rPr sz="1650" b="1" i="0">
                <a:solidFill>
                  <a:srgbClr val="D8A034"/>
                </a:solidFill>
              </a:rPr>
              <a:t>PageRank 算法机制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B3F614-17FB-4633-AA40-5DF97DBB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85850"/>
            <a:ext cx="4629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4050" b="1" i="0">
                <a:solidFill>
                  <a:srgbClr val="17242A"/>
                </a:solidFill>
              </a:defRPr>
            </a:pPr>
            <a:r>
              <a:rPr sz="4050" b="1" i="0">
                <a:solidFill>
                  <a:srgbClr val="17242A"/>
                </a:solidFill>
              </a:rPr>
              <a:t>小组贡献与参考资料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7382731-6704-4878-A989-2E3C476F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5486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0" i="0">
                <a:solidFill>
                  <a:srgbClr val="52636B"/>
                </a:solidFill>
              </a:defRPr>
            </a:pPr>
            <a:r>
              <a:rPr sz="1875" b="0" i="0">
                <a:solidFill>
                  <a:srgbClr val="52636B"/>
                </a:solidFill>
              </a:rPr>
              <a:t>五位成员各自负责一个环节，最后合并为完整汇报。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02BE0-3F9F-44A6-8F69-8D1BEF0A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876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8A03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ECCE7-5CDF-4277-87AA-7C83A6F8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87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成员1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96134-1C2F-4757-BC44-011F4282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647950"/>
            <a:ext cx="7467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0" i="0">
                <a:solidFill>
                  <a:srgbClr val="17242A"/>
                </a:solidFill>
              </a:defRPr>
            </a:pPr>
            <a:r>
              <a:rPr sz="1875" b="0" i="0">
                <a:solidFill>
                  <a:srgbClr val="17242A"/>
                </a:solidFill>
              </a:rPr>
              <a:t>论文背景与 PageRank 问题提出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FB160-A6F1-4B40-B9D1-B129C845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876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8A03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2109F-0777-41E9-B4F4-137A5584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87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成员2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CE9B6-1A6E-417B-B010-987352F7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257550"/>
            <a:ext cx="7467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0" i="0">
                <a:solidFill>
                  <a:srgbClr val="17242A"/>
                </a:solidFill>
              </a:defRPr>
            </a:pPr>
            <a:r>
              <a:rPr sz="1875" b="0" i="0">
                <a:solidFill>
                  <a:srgbClr val="17242A"/>
                </a:solidFill>
              </a:rPr>
              <a:t>核心公式、符号解释与阻尼系数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A1895-AD5B-487F-86DE-7BD02883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876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8A034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34C36-A041-4EFB-9C85-287F7A22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87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成员3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5C175-3630-409F-B3F3-0151B4DE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67150"/>
            <a:ext cx="7467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0" i="0">
                <a:solidFill>
                  <a:srgbClr val="17242A"/>
                </a:solidFill>
              </a:defRPr>
            </a:pPr>
            <a:r>
              <a:rPr sz="1875" b="0" i="0">
                <a:solidFill>
                  <a:srgbClr val="17242A"/>
                </a:solidFill>
              </a:rPr>
              <a:t>五节点示例、迭代过程与表格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E44C9-2DC4-45F7-B60C-FD500E5C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876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8A034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58246-4174-421B-9B9D-B6A75980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87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成员4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6CC42B-C631-4231-8355-A003CFAA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76750"/>
            <a:ext cx="7467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0" i="0">
                <a:solidFill>
                  <a:srgbClr val="17242A"/>
                </a:solidFill>
              </a:defRPr>
            </a:pPr>
            <a:r>
              <a:rPr sz="1875" b="0" i="0">
                <a:solidFill>
                  <a:srgbClr val="17242A"/>
                </a:solidFill>
              </a:rPr>
              <a:t>社会科学与自然科学应用扩展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E6007F-6690-46C2-8205-26723222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876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8A034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E33D3C-8D39-475C-8A79-9A52035C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87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成员5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63342E-600C-4643-96D9-3CFB2426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86350"/>
            <a:ext cx="7467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0" i="0">
                <a:solidFill>
                  <a:srgbClr val="17242A"/>
                </a:solidFill>
              </a:defRPr>
            </a:pPr>
            <a:r>
              <a:rPr sz="1875" b="0" i="0">
                <a:solidFill>
                  <a:srgbClr val="17242A"/>
                </a:solidFill>
              </a:rPr>
              <a:t>PPT 统稿、版式设计与现场讲解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F01EDE-FA71-4D42-AEDB-26F9FB64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9314" y="2575027"/>
            <a:ext cx="7700486" cy="7083323"/>
          </a:xfrm>
          <a:prstGeom xmlns:a="http://schemas.openxmlformats.org/drawingml/2006/main" prst="roundRect">
            <a:avLst>
              <a:gd name="adj" fmla="val 2958"/>
            </a:avLst>
          </a:prstGeom>
          <a:solidFill xmlns:a="http://schemas.openxmlformats.org/drawingml/2006/main">
            <a:srgbClr val="17242A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A5C9EB-3905-4436-93FE-E31D395A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38450"/>
            <a:ext cx="7124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400" b="1" i="0">
                <a:solidFill>
                  <a:srgbClr val="FFFFFF"/>
                </a:solidFill>
              </a:defRPr>
            </a:pPr>
            <a:r>
              <a:rPr sz="2400" b="1" i="0">
                <a:solidFill>
                  <a:srgbClr val="FFFFFF"/>
                </a:solidFill>
              </a:rPr>
              <a:t>参考文献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C32D92-C368-46F5-A094-31BC9146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429000"/>
            <a:ext cx="71247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75" b="0" i="0">
                <a:solidFill>
                  <a:srgbClr val="CFE5E0"/>
                </a:solidFill>
              </a:defRPr>
            </a:pPr>
            <a:r>
              <a:rPr sz="1575" b="0" i="0">
                <a:solidFill>
                  <a:srgbClr val="CFE5E0"/>
                </a:solidFill>
              </a:rPr>
              <a:t>[1] Sergey Brin and Lawrence Page, The Anatomy of a Large-Scale Hypertextual Web Search Engine.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C55DDB-75CC-42BD-8699-38221AFF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171950"/>
            <a:ext cx="7124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75" b="0" i="0">
                <a:solidFill>
                  <a:srgbClr val="CFE5E0"/>
                </a:solidFill>
              </a:defRPr>
            </a:pPr>
            <a:r>
              <a:rPr sz="1575" b="0" i="0">
                <a:solidFill>
                  <a:srgbClr val="CFE5E0"/>
                </a:solidFill>
              </a:rPr>
              <a:t>[2] Ian Rogers, The Google PageRank Algorithm and How It Works.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FA3E06-7F05-4FB0-804D-F354758D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629150"/>
            <a:ext cx="71247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75" b="0" i="0">
                <a:solidFill>
                  <a:srgbClr val="CFE5E0"/>
                </a:solidFill>
              </a:defRPr>
            </a:pPr>
            <a:r>
              <a:rPr sz="1575" b="0" i="0">
                <a:solidFill>
                  <a:srgbClr val="CFE5E0"/>
                </a:solidFill>
              </a:rPr>
              <a:t>[3] 董文慧、熊回香、杜瑾、王妍妍，基于学者画像的科研合作者推荐研究，数据分析与知识发现，2022。</a:t>
            </a:r>
          </a:p>
        </p:txBody>
      </p:sp>
    </p:spTree>
    <p:extLst>
      <p:ext uri="{BB962C8B-B14F-4D97-AF65-F5344CB8AC3E}">
        <p14:creationId xmlns:p14="http://schemas.microsoft.com/office/powerpoint/2010/main" val="20560727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2026-04-28T09:56:37.6250000Z</dcterms:created>
  <dcterms:modified xsi:type="dcterms:W3CDTF">2026-04-28T09:56:37.6250000Z</dcterms:modified>
</coreProperties>
</file>